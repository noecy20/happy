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07c063-923d-a58f-23e7-a65bd03c9efd}">
          <p14:sldIdLst>
            <p14:sldId id="256"/>
            <p14:sldId id="257"/>
            <p14:sldId id="258"/>
            <p14:sldId id="259"/>
          </p14:sldIdLst>
        </p14:section>
        <p14:section name="La solution" id="{c0839ac8-2d8b-44fc-c15c-060c3ad2ee63}">
          <p14:sldIdLst>
            <p14:sldId id="260"/>
            <p14:sldId id="261"/>
            <p14:sldId id="262"/>
            <p14:sldId id="263"/>
          </p14:sldIdLst>
        </p14:section>
        <p14:section name="Technologies" id="{aa50dc57-a400-cc26-66f1-0184d26be04b}">
          <p14:sldIdLst>
            <p14:sldId id="264"/>
            <p14:sldId id="265"/>
            <p14:sldId id="266"/>
            <p14:sldId id="267"/>
          </p14:sldIdLst>
        </p14:section>
        <p14:section name="Lancer l’application" id="{5729dbed-a3d7-e789-88dd-6f1836581bdc}">
          <p14:sldIdLst>
            <p14:sldId id="268"/>
            <p14:sldId id="269"/>
            <p14:sldId id="270"/>
            <p14:sldId id="271"/>
            <p14:sldId id="272"/>
          </p14:sldIdLst>
        </p14:section>
        <p14:section name="Conclusion" id="{eda28b38-9b9f-2f5b-0419-df251a5c55d0}">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Bonsoir. Je vais vous présenter Happy, une application de listes de cadeaux d’anniversaire avec effet surprise, pensée pour Abidjan. Plan : d’où vient l’idée, le problème, la solution et ses objectifs, les technologies, puis comment on lance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vient d’un vécu : à chaque anniversaire, l’organisation des cadeaux se fait dans un groupe WhatsApp désordonné. On se retrouve avec des doublons, la personne fêtée est gênée de dire ce qu’elle veut, et quand elle le dit, il n’y a plus de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tient en une question. Quatre difficultés concrètes en découlent : les doublons, la surprise gâchée, l’organisation dispersée et des moyens de paiement mal adaptés à la Côte d’Ivoire.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crée de la valeur pour trois publics. Deux promesses fortes : un simple lien suffit aux proches, et aucun nom n’est révélé avant le lendemain de l’anniversaire.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solution : Happy.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est simple : on s’inscrit, on compose sa liste et on demande l’accès en payant par mobile money, on partage un lien, et les proches réservent anonymement. Le lendemain de l’anniversaire, on découvre qui a offert quoi.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objectifs : zéro doublon, une surprise garantie techniquement, toute l’organisation au même endroit, et une application adaptée au contexte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rôles. Le célébrant, l’ami sans compte et l’administrateur sont disponibles dans cette version. La partie boutique, c’est-à-dire l’e-commerce, arrive bientôt : la base de données est déjà prête.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technologies.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a trois briques. L’application Flutter affiche les écrans. Le serveur Node.js vérifie l’identité de l’utilisateur et parle à la base. PostgreSQL stocke tout et applique les règles de sécurité. On ne connecte pas l’application directement à la base, sinon son mot de passe serait dans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résume chaque technologie et son rôle. Flutter pour l’application, Android Studio pour l’émulateur, VS Code pour coder, Node.js et Express pour le serveur, PostgreSQL pour la base, bcrypt et JWT pour la sécurité des comptes, quelques paquets Flutter pour les fonctions du téléphone, et node-cron pour les rappels quotidiens.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technique clé : la sécurité n’est pas seulement dans l’écran, elle est dans la base. Le serveur indique à PostgreSQL l’identité de l’utilisateur, et les règles RLS filtrent les lignes. Même si quelqu’un modifiait l’application, il ne pourrait pas voir qui a offert quoi.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comment on lance l’application, commande par 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commandes ne se font qu’une fois. npm install télécharge les bibliothèques. npm run setup crée la base et toutes les tables à partir du script SQL, avec le mot de passe de PostgreSQL. npm run admin crée le compte administrateur.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Flutter : setup_android.bat génère le dossier Android et autorise les appels HTTP vers le serveur local. flutter pub get télécharge les paquets. flutter analyze vérifie qu’il n’y a pas d’erreur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chaque séance : npm start lance le serveur, on démarre l’émulateur, flutter run lance l’application. Pendant l’exécution, r recharge à chaud. Et npm test rejoue tout le scénario en quelques secondes pour prouver que le serveur et la base fonctionnent.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vrai téléphone, on récupère l’adresse IP du PC avec ipconfig, puis on la passe à flutter run. flutter devices liste les appareils, flutter clean repart d’une compilation propre en cas de souci.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bilan : le cœur du produit est réalisé et testé. Les prochaines étapes sont l’e-commerce avec les boutiques partenaires, les notifications push, les liens qui ouvrent directement l’application et le site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vous propose maintenant une démonstration, puis je répondrai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8288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977640"/>
            <a:ext cx="67665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822960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rtlCol="0" anchor="ctr"/>
          <a:lstStyle/>
          <a:p>
            <a:pPr indent="0" marL="0">
              <a:buNone/>
            </a:pPr>
            <a:r>
              <a:rPr lang="en-US" sz="1000" dirty="0">
                <a:solidFill>
                  <a:schemeClr val="accent6"/>
                </a:solidFill>
              </a:rPr>
              <a:t>Happy · listes de cadeaux avec effet surprise</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82880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Happy</a:t>
            </a:r>
            <a:endParaRPr lang="en-US" sz="4800" dirty="0"/>
          </a:p>
        </p:txBody>
      </p:sp>
      <p:sp>
        <p:nvSpPr>
          <p:cNvPr id="3" name="Text 0"/>
          <p:cNvSpPr/>
          <p:nvPr>
            <p:ph idx="101" type="body" hasCustomPrompt="1"/>
          </p:nvPr>
        </p:nvSpPr>
        <p:spPr>
          <a:xfrm>
            <a:off x="731520" y="3977640"/>
            <a:ext cx="6766560" cy="1280160"/>
          </a:xfrm>
          <a:prstGeom prst="rect">
            <a:avLst/>
          </a:prstGeom>
          <a:noFill/>
          <a:ln/>
        </p:spPr>
        <p:txBody>
          <a:bodyPr wrap="square" rtlCol="0" anchor="t"/>
          <a:lstStyle/>
          <a:p>
            <a:pPr algn="l" indent="0" marL="0">
              <a:buNone/>
            </a:pPr>
            <a:r>
              <a:rPr lang="en-US" sz="2000" dirty="0">
                <a:solidFill>
                  <a:schemeClr val="bg2"/>
                </a:solidFill>
              </a:rPr>
              <a:t>La liste d’anniversaire qui garde le secret</a:t>
            </a:r>
            <a:endParaRPr lang="en-US" sz="2000" dirty="0"/>
          </a:p>
          <a:p>
            <a:pPr algn="l" indent="0" marL="0">
              <a:buNone/>
            </a:pPr>
            <a:r>
              <a:rPr lang="en-US" sz="2000" dirty="0">
                <a:solidFill>
                  <a:schemeClr val="bg2"/>
                </a:solidFill>
              </a:rPr>
              <a:t>Application mobile Flutter · PostgreSQL · Abidjan</a:t>
            </a:r>
            <a:endParaRPr lang="en-US" sz="2000" dirty="0"/>
          </a:p>
        </p:txBody>
      </p:sp>
      <p:sp>
        <p:nvSpPr>
          <p:cNvPr id="4" name="Shape 2"/>
          <p:cNvSpPr/>
          <p:nvPr/>
        </p:nvSpPr>
        <p:spPr>
          <a:xfrm>
            <a:off x="7863840" y="1097280"/>
            <a:ext cx="3840480" cy="3840480"/>
          </a:xfrm>
          <a:prstGeom prst="ellipse">
            <a:avLst/>
          </a:prstGeom>
          <a:solidFill>
            <a:schemeClr val="tx2"/>
          </a:solidFill>
          <a:ln/>
        </p:spPr>
      </p:sp>
      <p:sp>
        <p:nvSpPr>
          <p:cNvPr id="5" name="Shape 3"/>
          <p:cNvSpPr/>
          <p:nvPr/>
        </p:nvSpPr>
        <p:spPr>
          <a:xfrm>
            <a:off x="8503920" y="2743200"/>
            <a:ext cx="1737360" cy="1554480"/>
          </a:xfrm>
          <a:prstGeom prst="roundRect">
            <a:avLst>
              <a:gd name="adj" fmla="val 4706"/>
            </a:avLst>
          </a:prstGeom>
          <a:solidFill>
            <a:schemeClr val="accent1"/>
          </a:solidFill>
          <a:ln/>
        </p:spPr>
      </p:sp>
      <p:sp>
        <p:nvSpPr>
          <p:cNvPr id="6" name="Shape 4"/>
          <p:cNvSpPr/>
          <p:nvPr/>
        </p:nvSpPr>
        <p:spPr>
          <a:xfrm>
            <a:off x="9281160" y="2743200"/>
            <a:ext cx="201168" cy="1554480"/>
          </a:xfrm>
          <a:prstGeom prst="rect">
            <a:avLst/>
          </a:prstGeom>
          <a:solidFill>
            <a:schemeClr val="accent2"/>
          </a:solidFill>
          <a:ln/>
        </p:spPr>
      </p:sp>
      <p:sp>
        <p:nvSpPr>
          <p:cNvPr id="7" name="Shape 5"/>
          <p:cNvSpPr/>
          <p:nvPr/>
        </p:nvSpPr>
        <p:spPr>
          <a:xfrm>
            <a:off x="9966960" y="2103120"/>
            <a:ext cx="1280160" cy="2194560"/>
          </a:xfrm>
          <a:prstGeom prst="roundRect">
            <a:avLst>
              <a:gd name="adj" fmla="val 5714"/>
            </a:avLst>
          </a:prstGeom>
          <a:solidFill>
            <a:schemeClr val="accent4"/>
          </a:solidFill>
          <a:ln w="12700">
            <a:solidFill>
              <a:schemeClr val="accent2"/>
            </a:solidFill>
            <a:prstDash val="solid"/>
          </a:ln>
        </p:spPr>
      </p:sp>
      <p:sp>
        <p:nvSpPr>
          <p:cNvPr id="8" name="Shape 6"/>
          <p:cNvSpPr/>
          <p:nvPr/>
        </p:nvSpPr>
        <p:spPr>
          <a:xfrm>
            <a:off x="10515600" y="2103120"/>
            <a:ext cx="182880" cy="2194560"/>
          </a:xfrm>
          <a:prstGeom prst="rect">
            <a:avLst/>
          </a:prstGeom>
          <a:solidFill>
            <a:schemeClr val="accent2"/>
          </a:solidFill>
          <a:ln/>
        </p:spPr>
      </p:sp>
      <p:pic>
        <p:nvPicPr>
          <p:cNvPr id="9" name="Image 0" descr="preencoded.png">    </p:cNvPr>
          <p:cNvPicPr>
            <a:picLocks noChangeAspect="1"/>
          </p:cNvPicPr>
          <p:nvPr/>
        </p:nvPicPr>
        <p:blipFill>
          <a:blip r:embed="rId1"/>
          <a:stretch>
            <a:fillRect/>
          </a:stretch>
        </p:blipFill>
        <p:spPr>
          <a:xfrm>
            <a:off x="8915400" y="1600200"/>
            <a:ext cx="822960" cy="822960"/>
          </a:xfrm>
          <a:prstGeom prst="rect">
            <a:avLst/>
          </a:prstGeom>
        </p:spPr>
      </p:pic>
      <p:sp>
        <p:nvSpPr>
          <p:cNvPr id="10" name="Text 7"/>
          <p:cNvSpPr txBox="1"/>
          <p:nvPr/>
        </p:nvSpPr>
        <p:spPr>
          <a:xfrm>
            <a:off x="731520" y="5943600"/>
            <a:ext cx="6400800" cy="365760"/>
          </a:xfrm>
          <a:prstGeom prst="rect">
            <a:avLst/>
          </a:prstGeom>
          <a:noFill/>
          <a:ln/>
        </p:spPr>
        <p:txBody>
          <a:bodyPr wrap="square" lIns="0" tIns="0" rIns="0" bIns="0" rtlCol="0" anchor="ctr"/>
          <a:lstStyle/>
          <a:p>
            <a:pPr indent="0" marL="0">
              <a:buNone/>
            </a:pPr>
            <a:r>
              <a:rPr lang="en-US" sz="1400" dirty="0">
                <a:solidFill>
                  <a:schemeClr val="accent2"/>
                </a:solidFill>
              </a:rPr>
              <a:t>Présenté par Noémie Cyrielle ALLAH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D’où vient l’idée</a:t>
            </a:r>
            <a:endParaRPr lang="en-US" sz="3600" dirty="0"/>
          </a:p>
        </p:txBody>
      </p:sp>
      <p:sp>
        <p:nvSpPr>
          <p:cNvPr id="3" name="histoire"/>
          <p:cNvSpPr/>
          <p:nvPr/>
        </p:nvSpPr>
        <p:spPr>
          <a:xfrm>
            <a:off x="548640" y="1463040"/>
            <a:ext cx="5486400" cy="4480560"/>
          </a:xfrm>
          <a:prstGeom prst="roundRect">
            <a:avLst>
              <a:gd name="adj" fmla="val 3673"/>
            </a:avLst>
          </a:prstGeom>
          <a:solidFill>
            <a:schemeClr val="bg2"/>
          </a:solidFill>
          <a:ln/>
          <a:effectLst>
            <a:outerShdw sx="100000" sy="100000" kx="0" ky="0" algn="bl" rotWithShape="0" blurRad="101600" dist="25400" dir="5400000">
              <a:srgbClr val="1E1428">
                <a:alpha val="12000"/>
              </a:srgbClr>
            </a:outerShdw>
          </a:effectLst>
        </p:spPr>
      </p:sp>
      <p:sp>
        <p:nvSpPr>
          <p:cNvPr id="4" name="Text 2"/>
          <p:cNvSpPr txBox="1"/>
          <p:nvPr/>
        </p:nvSpPr>
        <p:spPr>
          <a:xfrm>
            <a:off x="868680" y="1737360"/>
            <a:ext cx="49377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Une situation que tout le monde connaît</a:t>
            </a:r>
            <a:endParaRPr lang="en-US" sz="2000" dirty="0"/>
          </a:p>
        </p:txBody>
      </p:sp>
      <p:sp>
        <p:nvSpPr>
          <p:cNvPr id="5" name="Text 3"/>
          <p:cNvSpPr txBox="1"/>
          <p:nvPr/>
        </p:nvSpPr>
        <p:spPr>
          <a:xfrm>
            <a:off x="868680" y="233172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Un anniversaire approche : un groupe WhatsApp se crée, chacun demande « Qu’est-ce que je lui offre ? »</a:t>
            </a:r>
            <a:endParaRPr lang="en-US" sz="1600" dirty="0"/>
          </a:p>
          <a:p>
            <a:pPr marL="342900" indent="-342900">
              <a:spcAft>
                <a:spcPts val="1000"/>
              </a:spcAft>
              <a:buSzPct val="100000"/>
              <a:buChar char="•"/>
            </a:pPr>
            <a:r>
              <a:rPr lang="en-US" sz="1600" dirty="0">
                <a:solidFill>
                  <a:schemeClr val="tx1"/>
                </a:solidFill>
              </a:rPr>
              <a:t>La personne fêtée n’ose pas dire ce qu’elle veut, ou doit répondre à tout le monde</a:t>
            </a:r>
            <a:endParaRPr lang="en-US" sz="1600" dirty="0"/>
          </a:p>
          <a:p>
            <a:pPr marL="342900" indent="-342900">
              <a:spcAft>
                <a:spcPts val="1000"/>
              </a:spcAft>
              <a:buSzPct val="100000"/>
              <a:buChar char="•"/>
            </a:pPr>
            <a:r>
              <a:rPr lang="en-US" sz="1600" dirty="0">
                <a:solidFill>
                  <a:schemeClr val="tx1"/>
                </a:solidFill>
              </a:rPr>
              <a:t>Le jour J : trois parfums identiques, et la surprise est gâchée avant la fête</a:t>
            </a:r>
            <a:endParaRPr lang="en-US" sz="1600" dirty="0"/>
          </a:p>
          <a:p>
            <a:pPr marL="342900" indent="-342900">
              <a:spcAft>
                <a:spcPts val="1000"/>
              </a:spcAft>
              <a:buSzPct val="100000"/>
              <a:buChar char="•"/>
            </a:pPr>
            <a:r>
              <a:rPr lang="en-US" sz="1600" dirty="0">
                <a:solidFill>
                  <a:schemeClr val="tx1"/>
                </a:solidFill>
              </a:rPr>
              <a:t>Les invitations, le dress code et les présences se perdent dans les messages</a:t>
            </a:r>
            <a:endParaRPr lang="en-US" sz="1600" dirty="0"/>
          </a:p>
        </p:txBody>
      </p:sp>
      <p:sp>
        <p:nvSpPr>
          <p:cNvPr id="6" name="Shape 4"/>
          <p:cNvSpPr/>
          <p:nvPr/>
        </p:nvSpPr>
        <p:spPr>
          <a:xfrm>
            <a:off x="6492240" y="1463040"/>
            <a:ext cx="5120640" cy="4480560"/>
          </a:xfrm>
          <a:prstGeom prst="roundRect">
            <a:avLst>
              <a:gd name="adj" fmla="val 3673"/>
            </a:avLst>
          </a:prstGeom>
          <a:solidFill>
            <a:schemeClr val="tx1"/>
          </a:solidFill>
          <a:ln/>
          <a:effectLst>
            <a:outerShdw sx="100000" sy="100000" kx="0" ky="0" algn="bl" rotWithShape="0" blurRad="101600" dist="25400" dir="5400000">
              <a:srgbClr val="1E1428">
                <a:alpha val="12000"/>
              </a:srgbClr>
            </a:outerShdw>
          </a:effectLst>
        </p:spPr>
      </p:sp>
      <p:pic>
        <p:nvPicPr>
          <p:cNvPr id="7" name="Image 0" descr="preencoded.png">    </p:cNvPr>
          <p:cNvPicPr>
            <a:picLocks noChangeAspect="1"/>
          </p:cNvPicPr>
          <p:nvPr/>
        </p:nvPicPr>
        <p:blipFill>
          <a:blip r:embed="rId1"/>
          <a:stretch>
            <a:fillRect/>
          </a:stretch>
        </p:blipFill>
        <p:spPr>
          <a:xfrm>
            <a:off x="6858000" y="1828800"/>
            <a:ext cx="548640" cy="548640"/>
          </a:xfrm>
          <a:prstGeom prst="rect">
            <a:avLst/>
          </a:prstGeom>
        </p:spPr>
      </p:pic>
      <p:sp>
        <p:nvSpPr>
          <p:cNvPr id="8" name="Text 5"/>
          <p:cNvSpPr txBox="1"/>
          <p:nvPr/>
        </p:nvSpPr>
        <p:spPr>
          <a:xfrm>
            <a:off x="6858000" y="2560320"/>
            <a:ext cx="4389120" cy="1828800"/>
          </a:xfrm>
          <a:prstGeom prst="rect">
            <a:avLst/>
          </a:prstGeom>
          <a:noFill/>
          <a:ln/>
        </p:spPr>
        <p:txBody>
          <a:bodyPr wrap="square" lIns="0" tIns="0" rIns="0" bIns="0" rtlCol="0" anchor="ctr"/>
          <a:lstStyle/>
          <a:p>
            <a:pPr indent="0" marL="0">
              <a:buNone/>
            </a:pPr>
            <a:r>
              <a:rPr lang="en-US" sz="2400" i="1" dirty="0">
                <a:solidFill>
                  <a:srgbClr val="FFFFFF"/>
                </a:solidFill>
                <a:latin typeface="Cambria" pitchFamily="34" charset="0"/>
                <a:ea typeface="Cambria" pitchFamily="34" charset="-122"/>
                <a:cs typeface="Cambria" pitchFamily="34" charset="-120"/>
              </a:rPr>
              <a:t>Comment offrir le bon cadeau, sans doublon, tout en gardant la surprise jusqu’au bout ?</a:t>
            </a:r>
            <a:endParaRPr lang="en-US" sz="2400" dirty="0"/>
          </a:p>
        </p:txBody>
      </p:sp>
      <p:sp>
        <p:nvSpPr>
          <p:cNvPr id="9" name="Text 6"/>
          <p:cNvSpPr txBox="1"/>
          <p:nvPr/>
        </p:nvSpPr>
        <p:spPr>
          <a:xfrm>
            <a:off x="6858000" y="4846320"/>
            <a:ext cx="4389120" cy="731520"/>
          </a:xfrm>
          <a:prstGeom prst="rect">
            <a:avLst/>
          </a:prstGeom>
          <a:noFill/>
          <a:ln/>
        </p:spPr>
        <p:txBody>
          <a:bodyPr wrap="square" lIns="0" tIns="0" rIns="0" bIns="0" rtlCol="0" anchor="ctr"/>
          <a:lstStyle/>
          <a:p>
            <a:pPr indent="0" marL="0">
              <a:buNone/>
            </a:pPr>
            <a:r>
              <a:rPr lang="en-US" sz="1400" dirty="0">
                <a:solidFill>
                  <a:schemeClr val="accent2"/>
                </a:solidFill>
              </a:rPr>
              <a:t>Le point de départ du projet, vécu autour de nous à Abidjan</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La problématique</a:t>
            </a:r>
            <a:endParaRPr lang="en-US" sz="3600" dirty="0"/>
          </a:p>
        </p:txBody>
      </p:sp>
      <p:sp>
        <p:nvSpPr>
          <p:cNvPr id="3" name="Shape 1"/>
          <p:cNvSpPr/>
          <p:nvPr/>
        </p:nvSpPr>
        <p:spPr>
          <a:xfrm>
            <a:off x="548640" y="1371600"/>
            <a:ext cx="11064240" cy="1188720"/>
          </a:xfrm>
          <a:prstGeom prst="roundRect">
            <a:avLst>
              <a:gd name="adj" fmla="val 13846"/>
            </a:avLst>
          </a:prstGeom>
          <a:solidFill>
            <a:schemeClr val="bg2"/>
          </a:solidFill>
          <a:ln/>
        </p:spPr>
      </p:sp>
      <p:sp>
        <p:nvSpPr>
          <p:cNvPr id="4" name="Text 2"/>
          <p:cNvSpPr txBox="1"/>
          <p:nvPr/>
        </p:nvSpPr>
        <p:spPr>
          <a:xfrm>
            <a:off x="868680" y="1463040"/>
            <a:ext cx="10424160" cy="10058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Comment permettre à une personne de partager ses envies de cadeaux et d’organiser sa fête, tout en préservant la surprise sur qui offre quoi ?</a:t>
            </a:r>
            <a:endParaRPr lang="en-US" sz="2000" dirty="0"/>
          </a:p>
        </p:txBody>
      </p:sp>
      <p:sp>
        <p:nvSpPr>
          <p:cNvPr id="5" name="probleme0"/>
          <p:cNvSpPr/>
          <p:nvPr/>
        </p:nvSpPr>
        <p:spPr>
          <a:xfrm>
            <a:off x="548640" y="2880360"/>
            <a:ext cx="2606040" cy="31089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6" name="Shape 4"/>
          <p:cNvSpPr/>
          <p:nvPr/>
        </p:nvSpPr>
        <p:spPr>
          <a:xfrm>
            <a:off x="822960" y="3154680"/>
            <a:ext cx="685800" cy="6858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94410" y="3326130"/>
            <a:ext cx="342900" cy="342900"/>
          </a:xfrm>
          <a:prstGeom prst="rect">
            <a:avLst/>
          </a:prstGeom>
        </p:spPr>
      </p:pic>
      <p:sp>
        <p:nvSpPr>
          <p:cNvPr id="8" name="Text 5"/>
          <p:cNvSpPr txBox="1"/>
          <p:nvPr/>
        </p:nvSpPr>
        <p:spPr>
          <a:xfrm>
            <a:off x="822960" y="3977640"/>
            <a:ext cx="2103120" cy="457200"/>
          </a:xfrm>
          <a:prstGeom prst="rect">
            <a:avLst/>
          </a:prstGeom>
          <a:noFill/>
          <a:ln/>
        </p:spPr>
        <p:txBody>
          <a:bodyPr wrap="square" lIns="0" tIns="0" rIns="0" bIns="0" rtlCol="0" anchor="ctr"/>
          <a:lstStyle/>
          <a:p>
            <a:pPr indent="0" marL="0">
              <a:buNone/>
            </a:pPr>
            <a:r>
              <a:rPr lang="en-US" sz="1800" b="1" dirty="0">
                <a:solidFill>
                  <a:schemeClr val="tx1"/>
                </a:solidFill>
              </a:rPr>
              <a:t>Cadeaux en double</a:t>
            </a:r>
            <a:endParaRPr lang="en-US" sz="1800" dirty="0"/>
          </a:p>
        </p:txBody>
      </p:sp>
      <p:sp>
        <p:nvSpPr>
          <p:cNvPr id="9" name="Text 6"/>
          <p:cNvSpPr txBox="1"/>
          <p:nvPr/>
        </p:nvSpPr>
        <p:spPr>
          <a:xfrm>
            <a:off x="822960" y="4480560"/>
            <a:ext cx="2103120" cy="1371600"/>
          </a:xfrm>
          <a:prstGeom prst="rect">
            <a:avLst/>
          </a:prstGeom>
          <a:noFill/>
          <a:ln/>
        </p:spPr>
        <p:txBody>
          <a:bodyPr wrap="square" lIns="0" tIns="0" rIns="0" bIns="0" rtlCol="0" anchor="t"/>
          <a:lstStyle/>
          <a:p>
            <a:pPr indent="0" marL="0">
              <a:buNone/>
            </a:pPr>
            <a:r>
              <a:rPr lang="en-US" sz="1400" dirty="0">
                <a:solidFill>
                  <a:schemeClr val="accent6"/>
                </a:solidFill>
              </a:rPr>
              <a:t>Sans liste commune, plusieurs proches achètent le même cadeau.</a:t>
            </a:r>
            <a:endParaRPr lang="en-US" sz="1400" dirty="0"/>
          </a:p>
        </p:txBody>
      </p:sp>
      <p:sp>
        <p:nvSpPr>
          <p:cNvPr id="10" name="probleme1"/>
          <p:cNvSpPr/>
          <p:nvPr/>
        </p:nvSpPr>
        <p:spPr>
          <a:xfrm>
            <a:off x="3383280" y="2880360"/>
            <a:ext cx="2606040" cy="31089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11" name="Shape 8"/>
          <p:cNvSpPr/>
          <p:nvPr/>
        </p:nvSpPr>
        <p:spPr>
          <a:xfrm>
            <a:off x="3657600" y="3154680"/>
            <a:ext cx="685800" cy="6858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829050" y="3326130"/>
            <a:ext cx="342900" cy="342900"/>
          </a:xfrm>
          <a:prstGeom prst="rect">
            <a:avLst/>
          </a:prstGeom>
        </p:spPr>
      </p:pic>
      <p:sp>
        <p:nvSpPr>
          <p:cNvPr id="13" name="Text 9"/>
          <p:cNvSpPr txBox="1"/>
          <p:nvPr/>
        </p:nvSpPr>
        <p:spPr>
          <a:xfrm>
            <a:off x="3657600" y="3977640"/>
            <a:ext cx="2103120" cy="457200"/>
          </a:xfrm>
          <a:prstGeom prst="rect">
            <a:avLst/>
          </a:prstGeom>
          <a:noFill/>
          <a:ln/>
        </p:spPr>
        <p:txBody>
          <a:bodyPr wrap="square" lIns="0" tIns="0" rIns="0" bIns="0" rtlCol="0" anchor="ctr"/>
          <a:lstStyle/>
          <a:p>
            <a:pPr indent="0" marL="0">
              <a:buNone/>
            </a:pPr>
            <a:r>
              <a:rPr lang="en-US" sz="1800" b="1" dirty="0">
                <a:solidFill>
                  <a:schemeClr val="tx1"/>
                </a:solidFill>
              </a:rPr>
              <a:t>Surprise gâchée</a:t>
            </a:r>
            <a:endParaRPr lang="en-US" sz="1800" dirty="0"/>
          </a:p>
        </p:txBody>
      </p:sp>
      <p:sp>
        <p:nvSpPr>
          <p:cNvPr id="14" name="Text 10"/>
          <p:cNvSpPr txBox="1"/>
          <p:nvPr/>
        </p:nvSpPr>
        <p:spPr>
          <a:xfrm>
            <a:off x="3657600" y="4480560"/>
            <a:ext cx="2103120" cy="1371600"/>
          </a:xfrm>
          <a:prstGeom prst="rect">
            <a:avLst/>
          </a:prstGeom>
          <a:noFill/>
          <a:ln/>
        </p:spPr>
        <p:txBody>
          <a:bodyPr wrap="square" lIns="0" tIns="0" rIns="0" bIns="0" rtlCol="0" anchor="t"/>
          <a:lstStyle/>
          <a:p>
            <a:pPr indent="0" marL="0">
              <a:buNone/>
            </a:pPr>
            <a:r>
              <a:rPr lang="en-US" sz="1400" dirty="0">
                <a:solidFill>
                  <a:schemeClr val="accent6"/>
                </a:solidFill>
              </a:rPr>
              <a:t>Pour éviter les doublons, on révèle qui offre quoi avant la fête.</a:t>
            </a:r>
            <a:endParaRPr lang="en-US" sz="1400" dirty="0"/>
          </a:p>
        </p:txBody>
      </p:sp>
      <p:sp>
        <p:nvSpPr>
          <p:cNvPr id="15" name="probleme2"/>
          <p:cNvSpPr/>
          <p:nvPr/>
        </p:nvSpPr>
        <p:spPr>
          <a:xfrm>
            <a:off x="6217920" y="2880360"/>
            <a:ext cx="2606040" cy="31089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16" name="Shape 12"/>
          <p:cNvSpPr/>
          <p:nvPr/>
        </p:nvSpPr>
        <p:spPr>
          <a:xfrm>
            <a:off x="6492240" y="3154680"/>
            <a:ext cx="685800" cy="6858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63690" y="3326130"/>
            <a:ext cx="342900" cy="342900"/>
          </a:xfrm>
          <a:prstGeom prst="rect">
            <a:avLst/>
          </a:prstGeom>
        </p:spPr>
      </p:pic>
      <p:sp>
        <p:nvSpPr>
          <p:cNvPr id="18" name="Text 13"/>
          <p:cNvSpPr txBox="1"/>
          <p:nvPr/>
        </p:nvSpPr>
        <p:spPr>
          <a:xfrm>
            <a:off x="6492240" y="3977640"/>
            <a:ext cx="2103120" cy="457200"/>
          </a:xfrm>
          <a:prstGeom prst="rect">
            <a:avLst/>
          </a:prstGeom>
          <a:noFill/>
          <a:ln/>
        </p:spPr>
        <p:txBody>
          <a:bodyPr wrap="square" lIns="0" tIns="0" rIns="0" bIns="0" rtlCol="0" anchor="ctr"/>
          <a:lstStyle/>
          <a:p>
            <a:pPr indent="0" marL="0">
              <a:buNone/>
            </a:pPr>
            <a:r>
              <a:rPr lang="en-US" sz="1800" b="1" dirty="0">
                <a:solidFill>
                  <a:schemeClr val="tx1"/>
                </a:solidFill>
              </a:rPr>
              <a:t>Infos dispersées</a:t>
            </a:r>
            <a:endParaRPr lang="en-US" sz="1800" dirty="0"/>
          </a:p>
        </p:txBody>
      </p:sp>
      <p:sp>
        <p:nvSpPr>
          <p:cNvPr id="19" name="Text 14"/>
          <p:cNvSpPr txBox="1"/>
          <p:nvPr/>
        </p:nvSpPr>
        <p:spPr>
          <a:xfrm>
            <a:off x="6492240" y="4480560"/>
            <a:ext cx="2103120" cy="1371600"/>
          </a:xfrm>
          <a:prstGeom prst="rect">
            <a:avLst/>
          </a:prstGeom>
          <a:noFill/>
          <a:ln/>
        </p:spPr>
        <p:txBody>
          <a:bodyPr wrap="square" lIns="0" tIns="0" rIns="0" bIns="0" rtlCol="0" anchor="t"/>
          <a:lstStyle/>
          <a:p>
            <a:pPr indent="0" marL="0">
              <a:buNone/>
            </a:pPr>
            <a:r>
              <a:rPr lang="en-US" sz="1400" dirty="0">
                <a:solidFill>
                  <a:schemeClr val="accent6"/>
                </a:solidFill>
              </a:rPr>
              <a:t>Invitations, lieu, dress code et présences éparpillés dans WhatsApp.</a:t>
            </a:r>
            <a:endParaRPr lang="en-US" sz="1400" dirty="0"/>
          </a:p>
        </p:txBody>
      </p:sp>
      <p:sp>
        <p:nvSpPr>
          <p:cNvPr id="20" name="probleme3"/>
          <p:cNvSpPr/>
          <p:nvPr/>
        </p:nvSpPr>
        <p:spPr>
          <a:xfrm>
            <a:off x="9052560" y="2880360"/>
            <a:ext cx="2606040" cy="31089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21" name="Shape 16"/>
          <p:cNvSpPr/>
          <p:nvPr/>
        </p:nvSpPr>
        <p:spPr>
          <a:xfrm>
            <a:off x="9326880" y="3154680"/>
            <a:ext cx="685800" cy="6858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498330" y="3326130"/>
            <a:ext cx="342900" cy="342900"/>
          </a:xfrm>
          <a:prstGeom prst="rect">
            <a:avLst/>
          </a:prstGeom>
        </p:spPr>
      </p:pic>
      <p:sp>
        <p:nvSpPr>
          <p:cNvPr id="23" name="Text 17"/>
          <p:cNvSpPr txBox="1"/>
          <p:nvPr/>
        </p:nvSpPr>
        <p:spPr>
          <a:xfrm>
            <a:off x="9326880" y="3977640"/>
            <a:ext cx="2103120" cy="457200"/>
          </a:xfrm>
          <a:prstGeom prst="rect">
            <a:avLst/>
          </a:prstGeom>
          <a:noFill/>
          <a:ln/>
        </p:spPr>
        <p:txBody>
          <a:bodyPr wrap="square" lIns="0" tIns="0" rIns="0" bIns="0" rtlCol="0" anchor="ctr"/>
          <a:lstStyle/>
          <a:p>
            <a:pPr indent="0" marL="0">
              <a:buNone/>
            </a:pPr>
            <a:r>
              <a:rPr lang="en-US" sz="1800" b="1" dirty="0">
                <a:solidFill>
                  <a:schemeClr val="tx1"/>
                </a:solidFill>
              </a:rPr>
              <a:t>Paiement non adapté</a:t>
            </a:r>
            <a:endParaRPr lang="en-US" sz="1800" dirty="0"/>
          </a:p>
        </p:txBody>
      </p:sp>
      <p:sp>
        <p:nvSpPr>
          <p:cNvPr id="24" name="Text 18"/>
          <p:cNvSpPr txBox="1"/>
          <p:nvPr/>
        </p:nvSpPr>
        <p:spPr>
          <a:xfrm>
            <a:off x="9326880" y="4480560"/>
            <a:ext cx="2103120" cy="1371600"/>
          </a:xfrm>
          <a:prstGeom prst="rect">
            <a:avLst/>
          </a:prstGeom>
          <a:noFill/>
          <a:ln/>
        </p:spPr>
        <p:txBody>
          <a:bodyPr wrap="square" lIns="0" tIns="0" rIns="0" bIns="0" rtlCol="0" anchor="t"/>
          <a:lstStyle/>
          <a:p>
            <a:pPr indent="0" marL="0">
              <a:buNone/>
            </a:pPr>
            <a:r>
              <a:rPr lang="en-US" sz="1400" dirty="0">
                <a:solidFill>
                  <a:schemeClr val="accent6"/>
                </a:solidFill>
              </a:rPr>
              <a:t>Les solutions existantes ignorent Wave, Orange Money, MTN et Moov.</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Pourquoi ce projet</a:t>
            </a:r>
            <a:endParaRPr lang="en-US" sz="3600" dirty="0"/>
          </a:p>
        </p:txBody>
      </p:sp>
      <p:sp>
        <p:nvSpPr>
          <p:cNvPr id="3" name="Shape 1"/>
          <p:cNvSpPr/>
          <p:nvPr/>
        </p:nvSpPr>
        <p:spPr>
          <a:xfrm>
            <a:off x="548640" y="1554480"/>
            <a:ext cx="777240" cy="7772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742950" y="1748790"/>
            <a:ext cx="388620" cy="388620"/>
          </a:xfrm>
          <a:prstGeom prst="rect">
            <a:avLst/>
          </a:prstGeom>
        </p:spPr>
      </p:pic>
      <p:sp>
        <p:nvSpPr>
          <p:cNvPr id="5" name="Text 2"/>
          <p:cNvSpPr txBox="1"/>
          <p:nvPr/>
        </p:nvSpPr>
        <p:spPr>
          <a:xfrm>
            <a:off x="1554480" y="1463040"/>
            <a:ext cx="5120640" cy="457200"/>
          </a:xfrm>
          <a:prstGeom prst="rect">
            <a:avLst/>
          </a:prstGeom>
          <a:noFill/>
          <a:ln/>
        </p:spPr>
        <p:txBody>
          <a:bodyPr wrap="square" lIns="0" tIns="0" rIns="0" bIns="0" rtlCol="0" anchor="ctr"/>
          <a:lstStyle/>
          <a:p>
            <a:pPr indent="0" marL="0">
              <a:buNone/>
            </a:pPr>
            <a:r>
              <a:rPr lang="en-US" sz="2000" b="1" dirty="0">
                <a:solidFill>
                  <a:schemeClr val="tx1"/>
                </a:solidFill>
              </a:rPr>
              <a:t>Pour la personne fêtée</a:t>
            </a:r>
            <a:endParaRPr lang="en-US" sz="2000" dirty="0"/>
          </a:p>
        </p:txBody>
      </p:sp>
      <p:sp>
        <p:nvSpPr>
          <p:cNvPr id="6" name="Text 3"/>
          <p:cNvSpPr txBox="1"/>
          <p:nvPr/>
        </p:nvSpPr>
        <p:spPr>
          <a:xfrm>
            <a:off x="1554480" y="1920240"/>
            <a:ext cx="5120640" cy="822960"/>
          </a:xfrm>
          <a:prstGeom prst="rect">
            <a:avLst/>
          </a:prstGeom>
          <a:noFill/>
          <a:ln/>
        </p:spPr>
        <p:txBody>
          <a:bodyPr wrap="square" lIns="0" tIns="0" rIns="0" bIns="0" rtlCol="0" anchor="t"/>
          <a:lstStyle/>
          <a:p>
            <a:pPr indent="0" marL="0">
              <a:buNone/>
            </a:pPr>
            <a:r>
              <a:rPr lang="en-US" sz="1500" dirty="0">
                <a:solidFill>
                  <a:schemeClr val="accent6"/>
                </a:solidFill>
              </a:rPr>
              <a:t>Recevoir des cadeaux qui lui plaisent vraiment, sans gêne, et garder le plaisir de la découverte.</a:t>
            </a:r>
            <a:endParaRPr lang="en-US" sz="1500" dirty="0"/>
          </a:p>
        </p:txBody>
      </p:sp>
      <p:sp>
        <p:nvSpPr>
          <p:cNvPr id="7" name="Shape 4"/>
          <p:cNvSpPr/>
          <p:nvPr/>
        </p:nvSpPr>
        <p:spPr>
          <a:xfrm>
            <a:off x="548640" y="3063240"/>
            <a:ext cx="777240" cy="77724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742950" y="3257550"/>
            <a:ext cx="388620" cy="388620"/>
          </a:xfrm>
          <a:prstGeom prst="rect">
            <a:avLst/>
          </a:prstGeom>
        </p:spPr>
      </p:pic>
      <p:sp>
        <p:nvSpPr>
          <p:cNvPr id="9" name="Text 5"/>
          <p:cNvSpPr txBox="1"/>
          <p:nvPr/>
        </p:nvSpPr>
        <p:spPr>
          <a:xfrm>
            <a:off x="1554480" y="2971800"/>
            <a:ext cx="5120640" cy="457200"/>
          </a:xfrm>
          <a:prstGeom prst="rect">
            <a:avLst/>
          </a:prstGeom>
          <a:noFill/>
          <a:ln/>
        </p:spPr>
        <p:txBody>
          <a:bodyPr wrap="square" lIns="0" tIns="0" rIns="0" bIns="0" rtlCol="0" anchor="ctr"/>
          <a:lstStyle/>
          <a:p>
            <a:pPr indent="0" marL="0">
              <a:buNone/>
            </a:pPr>
            <a:r>
              <a:rPr lang="en-US" sz="2000" b="1" dirty="0">
                <a:solidFill>
                  <a:schemeClr val="tx1"/>
                </a:solidFill>
              </a:rPr>
              <a:t>Pour les proches</a:t>
            </a:r>
            <a:endParaRPr lang="en-US" sz="2000" dirty="0"/>
          </a:p>
        </p:txBody>
      </p:sp>
      <p:sp>
        <p:nvSpPr>
          <p:cNvPr id="10" name="Text 6"/>
          <p:cNvSpPr txBox="1"/>
          <p:nvPr/>
        </p:nvSpPr>
        <p:spPr>
          <a:xfrm>
            <a:off x="1554480" y="3429000"/>
            <a:ext cx="5120640" cy="822960"/>
          </a:xfrm>
          <a:prstGeom prst="rect">
            <a:avLst/>
          </a:prstGeom>
          <a:noFill/>
          <a:ln/>
        </p:spPr>
        <p:txBody>
          <a:bodyPr wrap="square" lIns="0" tIns="0" rIns="0" bIns="0" rtlCol="0" anchor="t"/>
          <a:lstStyle/>
          <a:p>
            <a:pPr indent="0" marL="0">
              <a:buNone/>
            </a:pPr>
            <a:r>
              <a:rPr lang="en-US" sz="1500" dirty="0">
                <a:solidFill>
                  <a:schemeClr val="accent6"/>
                </a:solidFill>
              </a:rPr>
              <a:t>Savoir quoi offrir en deux minutes, sans compte, depuis un simple lien reçu par WhatsApp.</a:t>
            </a:r>
            <a:endParaRPr lang="en-US" sz="1500" dirty="0"/>
          </a:p>
        </p:txBody>
      </p:sp>
      <p:sp>
        <p:nvSpPr>
          <p:cNvPr id="11" name="Shape 7"/>
          <p:cNvSpPr/>
          <p:nvPr/>
        </p:nvSpPr>
        <p:spPr>
          <a:xfrm>
            <a:off x="548640" y="4572000"/>
            <a:ext cx="777240" cy="777240"/>
          </a:xfrm>
          <a:prstGeom prst="ellipse">
            <a:avLst/>
          </a:prstGeom>
          <a:solidFill>
            <a:schemeClr val="accent2"/>
          </a:solidFill>
          <a:ln/>
        </p:spPr>
      </p:sp>
      <p:pic>
        <p:nvPicPr>
          <p:cNvPr id="12" name="Image 2" descr="preencoded.png">    </p:cNvPr>
          <p:cNvPicPr>
            <a:picLocks noChangeAspect="1"/>
          </p:cNvPicPr>
          <p:nvPr/>
        </p:nvPicPr>
        <p:blipFill>
          <a:blip r:embed="rId3"/>
          <a:stretch>
            <a:fillRect/>
          </a:stretch>
        </p:blipFill>
        <p:spPr>
          <a:xfrm>
            <a:off x="742950" y="4766310"/>
            <a:ext cx="388620" cy="388620"/>
          </a:xfrm>
          <a:prstGeom prst="rect">
            <a:avLst/>
          </a:prstGeom>
        </p:spPr>
      </p:pic>
      <p:sp>
        <p:nvSpPr>
          <p:cNvPr id="13" name="Text 8"/>
          <p:cNvSpPr txBox="1"/>
          <p:nvPr/>
        </p:nvSpPr>
        <p:spPr>
          <a:xfrm>
            <a:off x="1554480" y="4480560"/>
            <a:ext cx="5120640" cy="457200"/>
          </a:xfrm>
          <a:prstGeom prst="rect">
            <a:avLst/>
          </a:prstGeom>
          <a:noFill/>
          <a:ln/>
        </p:spPr>
        <p:txBody>
          <a:bodyPr wrap="square" lIns="0" tIns="0" rIns="0" bIns="0" rtlCol="0" anchor="ctr"/>
          <a:lstStyle/>
          <a:p>
            <a:pPr indent="0" marL="0">
              <a:buNone/>
            </a:pPr>
            <a:r>
              <a:rPr lang="en-US" sz="2000" b="1" dirty="0">
                <a:solidFill>
                  <a:schemeClr val="tx1"/>
                </a:solidFill>
              </a:rPr>
              <a:t>Pour les boutiques locales</a:t>
            </a:r>
            <a:endParaRPr lang="en-US" sz="2000" dirty="0"/>
          </a:p>
        </p:txBody>
      </p:sp>
      <p:sp>
        <p:nvSpPr>
          <p:cNvPr id="14" name="Text 9"/>
          <p:cNvSpPr txBox="1"/>
          <p:nvPr/>
        </p:nvSpPr>
        <p:spPr>
          <a:xfrm>
            <a:off x="1554480" y="4937760"/>
            <a:ext cx="5120640" cy="822960"/>
          </a:xfrm>
          <a:prstGeom prst="rect">
            <a:avLst/>
          </a:prstGeom>
          <a:noFill/>
          <a:ln/>
        </p:spPr>
        <p:txBody>
          <a:bodyPr wrap="square" lIns="0" tIns="0" rIns="0" bIns="0" rtlCol="0" anchor="t"/>
          <a:lstStyle/>
          <a:p>
            <a:pPr indent="0" marL="0">
              <a:buNone/>
            </a:pPr>
            <a:r>
              <a:rPr lang="en-US" sz="1500" dirty="0">
                <a:solidFill>
                  <a:schemeClr val="accent6"/>
                </a:solidFill>
              </a:rPr>
              <a:t>Recevoir des commandes ciblées pour des anniversaires (partie bientôt disponible).</a:t>
            </a:r>
            <a:endParaRPr lang="en-US" sz="1500" dirty="0"/>
          </a:p>
        </p:txBody>
      </p:sp>
      <p:sp>
        <p:nvSpPr>
          <p:cNvPr id="15" name="Shape 10"/>
          <p:cNvSpPr/>
          <p:nvPr/>
        </p:nvSpPr>
        <p:spPr>
          <a:xfrm>
            <a:off x="7223760" y="1463040"/>
            <a:ext cx="4389120" cy="4480560"/>
          </a:xfrm>
          <a:prstGeom prst="roundRect">
            <a:avLst>
              <a:gd name="adj" fmla="val 3750"/>
            </a:avLst>
          </a:prstGeom>
          <a:solidFill>
            <a:schemeClr val="accent1"/>
          </a:solidFill>
          <a:ln/>
          <a:effectLst>
            <a:outerShdw sx="100000" sy="100000" kx="0" ky="0" algn="bl" rotWithShape="0" blurRad="101600" dist="25400" dir="5400000">
              <a:srgbClr val="1E1428">
                <a:alpha val="12000"/>
              </a:srgbClr>
            </a:outerShdw>
          </a:effectLst>
        </p:spPr>
      </p:sp>
      <p:sp>
        <p:nvSpPr>
          <p:cNvPr id="16" name="Text 11"/>
          <p:cNvSpPr txBox="1"/>
          <p:nvPr/>
        </p:nvSpPr>
        <p:spPr>
          <a:xfrm>
            <a:off x="7589520" y="1828800"/>
            <a:ext cx="36576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1 lien</a:t>
            </a:r>
            <a:endParaRPr lang="en-US" sz="6000" dirty="0"/>
          </a:p>
        </p:txBody>
      </p:sp>
      <p:sp>
        <p:nvSpPr>
          <p:cNvPr id="17" name="Text 12"/>
          <p:cNvSpPr txBox="1"/>
          <p:nvPr/>
        </p:nvSpPr>
        <p:spPr>
          <a:xfrm>
            <a:off x="7589520" y="2834640"/>
            <a:ext cx="3657600" cy="914400"/>
          </a:xfrm>
          <a:prstGeom prst="rect">
            <a:avLst/>
          </a:prstGeom>
          <a:noFill/>
          <a:ln/>
        </p:spPr>
        <p:txBody>
          <a:bodyPr wrap="square" lIns="0" tIns="0" rIns="0" bIns="0" rtlCol="0" anchor="ctr"/>
          <a:lstStyle/>
          <a:p>
            <a:pPr indent="0" marL="0">
              <a:buNone/>
            </a:pPr>
            <a:r>
              <a:rPr lang="en-US" sz="1500" dirty="0">
                <a:solidFill>
                  <a:srgbClr val="FFFFFF"/>
                </a:solidFill>
              </a:rPr>
              <a:t>suffit aux proches : pas d’application à installer, pas de compte à créer</a:t>
            </a:r>
            <a:endParaRPr lang="en-US" sz="1500" dirty="0"/>
          </a:p>
        </p:txBody>
      </p:sp>
      <p:sp>
        <p:nvSpPr>
          <p:cNvPr id="18" name="Text 13"/>
          <p:cNvSpPr txBox="1"/>
          <p:nvPr/>
        </p:nvSpPr>
        <p:spPr>
          <a:xfrm>
            <a:off x="7589520" y="3840480"/>
            <a:ext cx="36576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0 nom</a:t>
            </a:r>
            <a:endParaRPr lang="en-US" sz="6000" dirty="0"/>
          </a:p>
        </p:txBody>
      </p:sp>
      <p:sp>
        <p:nvSpPr>
          <p:cNvPr id="19" name="Text 14"/>
          <p:cNvSpPr txBox="1"/>
          <p:nvPr/>
        </p:nvSpPr>
        <p:spPr>
          <a:xfrm>
            <a:off x="7589520" y="4846320"/>
            <a:ext cx="3657600" cy="822960"/>
          </a:xfrm>
          <a:prstGeom prst="rect">
            <a:avLst/>
          </a:prstGeom>
          <a:noFill/>
          <a:ln/>
        </p:spPr>
        <p:txBody>
          <a:bodyPr wrap="square" lIns="0" tIns="0" rIns="0" bIns="0" rtlCol="0" anchor="ctr"/>
          <a:lstStyle/>
          <a:p>
            <a:pPr indent="0" marL="0">
              <a:buNone/>
            </a:pPr>
            <a:r>
              <a:rPr lang="en-US" sz="1500" dirty="0">
                <a:solidFill>
                  <a:srgbClr val="FFFFFF"/>
                </a:solidFill>
              </a:rPr>
              <a:t>révélé à la personne fêtée avant le lendemain de son anniversaire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18872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La solution : Happy</a:t>
            </a:r>
            <a:endParaRPr lang="en-US" sz="4400" dirty="0"/>
          </a:p>
        </p:txBody>
      </p:sp>
      <p:sp>
        <p:nvSpPr>
          <p:cNvPr id="3" name="Text 0"/>
          <p:cNvSpPr/>
          <p:nvPr>
            <p:ph idx="101" type="body" hasCustomPrompt="1"/>
          </p:nvPr>
        </p:nvSpPr>
        <p:spPr>
          <a:xfrm>
            <a:off x="731520" y="3611880"/>
            <a:ext cx="8229600" cy="914400"/>
          </a:xfrm>
          <a:prstGeom prst="rect">
            <a:avLst/>
          </a:prstGeom>
          <a:noFill/>
          <a:ln/>
        </p:spPr>
        <p:txBody>
          <a:bodyPr wrap="square" rtlCol="0"/>
          <a:lstStyle/>
          <a:p>
            <a:pPr algn="l" indent="0" marL="0">
              <a:buNone/>
            </a:pPr>
            <a:r>
              <a:rPr lang="en-US" sz="2000" dirty="0">
                <a:solidFill>
                  <a:schemeClr val="bg2"/>
                </a:solidFill>
              </a:rPr>
              <a:t>Une liste de cadeaux, une invitation et une surprise garantie</a:t>
            </a:r>
            <a:endParaRPr lang="en-US" sz="2000" dirty="0"/>
          </a:p>
        </p:txBody>
      </p:sp>
      <p:pic>
        <p:nvPicPr>
          <p:cNvPr id="4" name="Image 0" descr="preencoded.png">    </p:cNvPr>
          <p:cNvPicPr>
            <a:picLocks noChangeAspect="1"/>
          </p:cNvPicPr>
          <p:nvPr/>
        </p:nvPicPr>
        <p:blipFill>
          <a:blip r:embed="rId1"/>
          <a:stretch>
            <a:fillRect/>
          </a:stretch>
        </p:blipFill>
        <p:spPr>
          <a:xfrm>
            <a:off x="9326880" y="2194560"/>
            <a:ext cx="2011680" cy="2011680"/>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Comment ça marche, en quatre temps</a:t>
            </a:r>
            <a:endParaRPr lang="en-US" sz="3600" dirty="0"/>
          </a:p>
        </p:txBody>
      </p:sp>
      <p:sp>
        <p:nvSpPr>
          <p:cNvPr id="3" name="Shape 1"/>
          <p:cNvSpPr/>
          <p:nvPr/>
        </p:nvSpPr>
        <p:spPr>
          <a:xfrm>
            <a:off x="1280160" y="2240280"/>
            <a:ext cx="9692640" cy="0"/>
          </a:xfrm>
          <a:prstGeom prst="line">
            <a:avLst/>
          </a:prstGeom>
          <a:noFill/>
          <a:ln w="25400">
            <a:solidFill>
              <a:schemeClr val="accent2"/>
            </a:solidFill>
            <a:prstDash val="dash"/>
          </a:ln>
        </p:spPr>
      </p:sp>
      <p:sp>
        <p:nvSpPr>
          <p:cNvPr id="4" name="Shape 2"/>
          <p:cNvSpPr/>
          <p:nvPr/>
        </p:nvSpPr>
        <p:spPr>
          <a:xfrm>
            <a:off x="868680" y="1737360"/>
            <a:ext cx="1005840" cy="10058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120140" y="1988820"/>
            <a:ext cx="502920" cy="502920"/>
          </a:xfrm>
          <a:prstGeom prst="rect">
            <a:avLst/>
          </a:prstGeom>
        </p:spPr>
      </p:pic>
      <p:sp>
        <p:nvSpPr>
          <p:cNvPr id="6" name="Text 3"/>
          <p:cNvSpPr txBox="1"/>
          <p:nvPr/>
        </p:nvSpPr>
        <p:spPr>
          <a:xfrm>
            <a:off x="2011680" y="1783080"/>
            <a:ext cx="731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7" name="etape0"/>
          <p:cNvSpPr/>
          <p:nvPr/>
        </p:nvSpPr>
        <p:spPr>
          <a:xfrm>
            <a:off x="548640" y="3017520"/>
            <a:ext cx="2606040" cy="2926080"/>
          </a:xfrm>
          <a:prstGeom prst="roundRect">
            <a:avLst>
              <a:gd name="adj" fmla="val 6316"/>
            </a:avLst>
          </a:prstGeom>
          <a:solidFill>
            <a:schemeClr val="bg2"/>
          </a:solidFill>
          <a:ln/>
          <a:effectLst>
            <a:outerShdw sx="100000" sy="100000" kx="0" ky="0" algn="bl" rotWithShape="0" blurRad="101600" dist="25400" dir="5400000">
              <a:srgbClr val="1E1428">
                <a:alpha val="12000"/>
              </a:srgbClr>
            </a:outerShdw>
          </a:effectLst>
        </p:spPr>
      </p:sp>
      <p:sp>
        <p:nvSpPr>
          <p:cNvPr id="8" name="Text 5"/>
          <p:cNvSpPr txBox="1"/>
          <p:nvPr/>
        </p:nvSpPr>
        <p:spPr>
          <a:xfrm>
            <a:off x="777240" y="3200400"/>
            <a:ext cx="2148840" cy="731520"/>
          </a:xfrm>
          <a:prstGeom prst="rect">
            <a:avLst/>
          </a:prstGeom>
          <a:noFill/>
          <a:ln/>
        </p:spPr>
        <p:txBody>
          <a:bodyPr wrap="square" lIns="0" tIns="0" rIns="0" bIns="0" rtlCol="0" anchor="t"/>
          <a:lstStyle/>
          <a:p>
            <a:pPr indent="0" marL="0">
              <a:buNone/>
            </a:pPr>
            <a:r>
              <a:rPr lang="en-US" sz="1800" b="1" dirty="0">
                <a:solidFill>
                  <a:schemeClr val="tx1"/>
                </a:solidFill>
              </a:rPr>
              <a:t>S’inscrire</a:t>
            </a:r>
            <a:endParaRPr lang="en-US" sz="1800" dirty="0"/>
          </a:p>
        </p:txBody>
      </p:sp>
      <p:sp>
        <p:nvSpPr>
          <p:cNvPr id="9" name="Text 6"/>
          <p:cNvSpPr txBox="1"/>
          <p:nvPr/>
        </p:nvSpPr>
        <p:spPr>
          <a:xfrm>
            <a:off x="777240" y="3977640"/>
            <a:ext cx="2148840" cy="1828800"/>
          </a:xfrm>
          <a:prstGeom prst="rect">
            <a:avLst/>
          </a:prstGeom>
          <a:noFill/>
          <a:ln/>
        </p:spPr>
        <p:txBody>
          <a:bodyPr wrap="square" lIns="0" tIns="0" rIns="0" bIns="0" rtlCol="0" anchor="t"/>
          <a:lstStyle/>
          <a:p>
            <a:pPr indent="0" marL="0">
              <a:buNone/>
            </a:pPr>
            <a:r>
              <a:rPr lang="en-US" sz="1400" dirty="0">
                <a:solidFill>
                  <a:schemeClr val="tx1"/>
                </a:solidFill>
              </a:rPr>
              <a:t>Par téléphone, email facultatif. On crée son anniversaire : date, couleur, dress code, fête.</a:t>
            </a:r>
            <a:endParaRPr lang="en-US" sz="1400" dirty="0"/>
          </a:p>
        </p:txBody>
      </p:sp>
      <p:sp>
        <p:nvSpPr>
          <p:cNvPr id="10" name="Shape 7"/>
          <p:cNvSpPr/>
          <p:nvPr/>
        </p:nvSpPr>
        <p:spPr>
          <a:xfrm>
            <a:off x="3703320" y="1737360"/>
            <a:ext cx="1005840" cy="100584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3954780" y="1988820"/>
            <a:ext cx="502920" cy="502920"/>
          </a:xfrm>
          <a:prstGeom prst="rect">
            <a:avLst/>
          </a:prstGeom>
        </p:spPr>
      </p:pic>
      <p:sp>
        <p:nvSpPr>
          <p:cNvPr id="12" name="Text 8"/>
          <p:cNvSpPr txBox="1"/>
          <p:nvPr/>
        </p:nvSpPr>
        <p:spPr>
          <a:xfrm>
            <a:off x="4846320" y="1783080"/>
            <a:ext cx="731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a:t>
            </a:r>
            <a:endParaRPr lang="en-US" sz="4000" dirty="0"/>
          </a:p>
        </p:txBody>
      </p:sp>
      <p:sp>
        <p:nvSpPr>
          <p:cNvPr id="13" name="etape1"/>
          <p:cNvSpPr/>
          <p:nvPr/>
        </p:nvSpPr>
        <p:spPr>
          <a:xfrm>
            <a:off x="3383280" y="3017520"/>
            <a:ext cx="2606040" cy="2926080"/>
          </a:xfrm>
          <a:prstGeom prst="roundRect">
            <a:avLst>
              <a:gd name="adj" fmla="val 6316"/>
            </a:avLst>
          </a:prstGeom>
          <a:solidFill>
            <a:schemeClr val="bg2"/>
          </a:solidFill>
          <a:ln/>
          <a:effectLst>
            <a:outerShdw sx="100000" sy="100000" kx="0" ky="0" algn="bl" rotWithShape="0" blurRad="101600" dist="25400" dir="5400000">
              <a:srgbClr val="1E1428">
                <a:alpha val="12000"/>
              </a:srgbClr>
            </a:outerShdw>
          </a:effectLst>
        </p:spPr>
      </p:sp>
      <p:sp>
        <p:nvSpPr>
          <p:cNvPr id="14" name="Text 10"/>
          <p:cNvSpPr txBox="1"/>
          <p:nvPr/>
        </p:nvSpPr>
        <p:spPr>
          <a:xfrm>
            <a:off x="3611880" y="3200400"/>
            <a:ext cx="2148840" cy="731520"/>
          </a:xfrm>
          <a:prstGeom prst="rect">
            <a:avLst/>
          </a:prstGeom>
          <a:noFill/>
          <a:ln/>
        </p:spPr>
        <p:txBody>
          <a:bodyPr wrap="square" lIns="0" tIns="0" rIns="0" bIns="0" rtlCol="0" anchor="t"/>
          <a:lstStyle/>
          <a:p>
            <a:pPr indent="0" marL="0">
              <a:buNone/>
            </a:pPr>
            <a:r>
              <a:rPr lang="en-US" sz="1800" b="1" dirty="0">
                <a:solidFill>
                  <a:schemeClr val="tx1"/>
                </a:solidFill>
              </a:rPr>
              <a:t>Composer sa liste</a:t>
            </a:r>
            <a:endParaRPr lang="en-US" sz="1800" dirty="0"/>
          </a:p>
        </p:txBody>
      </p:sp>
      <p:sp>
        <p:nvSpPr>
          <p:cNvPr id="15" name="Text 11"/>
          <p:cNvSpPr txBox="1"/>
          <p:nvPr/>
        </p:nvSpPr>
        <p:spPr>
          <a:xfrm>
            <a:off x="3611880" y="3977640"/>
            <a:ext cx="2148840" cy="1828800"/>
          </a:xfrm>
          <a:prstGeom prst="rect">
            <a:avLst/>
          </a:prstGeom>
          <a:noFill/>
          <a:ln/>
        </p:spPr>
        <p:txBody>
          <a:bodyPr wrap="square" lIns="0" tIns="0" rIns="0" bIns="0" rtlCol="0" anchor="t"/>
          <a:lstStyle/>
          <a:p>
            <a:pPr indent="0" marL="0">
              <a:buNone/>
            </a:pPr>
            <a:r>
              <a:rPr lang="en-US" sz="1400" dirty="0">
                <a:solidFill>
                  <a:schemeClr val="tx1"/>
                </a:solidFill>
              </a:rPr>
              <a:t>Photos, prix, où acheter. On demande l’accès (paiement Wave, Orange, MTN, Moov).</a:t>
            </a:r>
            <a:endParaRPr lang="en-US" sz="1400" dirty="0"/>
          </a:p>
        </p:txBody>
      </p:sp>
      <p:sp>
        <p:nvSpPr>
          <p:cNvPr id="16" name="Shape 12"/>
          <p:cNvSpPr/>
          <p:nvPr/>
        </p:nvSpPr>
        <p:spPr>
          <a:xfrm>
            <a:off x="6537960" y="1737360"/>
            <a:ext cx="1005840" cy="10058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789420" y="1988820"/>
            <a:ext cx="502920" cy="502920"/>
          </a:xfrm>
          <a:prstGeom prst="rect">
            <a:avLst/>
          </a:prstGeom>
        </p:spPr>
      </p:pic>
      <p:sp>
        <p:nvSpPr>
          <p:cNvPr id="18" name="Text 13"/>
          <p:cNvSpPr txBox="1"/>
          <p:nvPr/>
        </p:nvSpPr>
        <p:spPr>
          <a:xfrm>
            <a:off x="7680960" y="1783080"/>
            <a:ext cx="731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19" name="etape2"/>
          <p:cNvSpPr/>
          <p:nvPr/>
        </p:nvSpPr>
        <p:spPr>
          <a:xfrm>
            <a:off x="6217920" y="3017520"/>
            <a:ext cx="2606040" cy="2926080"/>
          </a:xfrm>
          <a:prstGeom prst="roundRect">
            <a:avLst>
              <a:gd name="adj" fmla="val 6316"/>
            </a:avLst>
          </a:prstGeom>
          <a:solidFill>
            <a:schemeClr val="bg2"/>
          </a:solidFill>
          <a:ln/>
          <a:effectLst>
            <a:outerShdw sx="100000" sy="100000" kx="0" ky="0" algn="bl" rotWithShape="0" blurRad="101600" dist="25400" dir="5400000">
              <a:srgbClr val="1E1428">
                <a:alpha val="12000"/>
              </a:srgbClr>
            </a:outerShdw>
          </a:effectLst>
        </p:spPr>
      </p:sp>
      <p:sp>
        <p:nvSpPr>
          <p:cNvPr id="20" name="Text 15"/>
          <p:cNvSpPr txBox="1"/>
          <p:nvPr/>
        </p:nvSpPr>
        <p:spPr>
          <a:xfrm>
            <a:off x="6446520" y="3200400"/>
            <a:ext cx="2148840" cy="731520"/>
          </a:xfrm>
          <a:prstGeom prst="rect">
            <a:avLst/>
          </a:prstGeom>
          <a:noFill/>
          <a:ln/>
        </p:spPr>
        <p:txBody>
          <a:bodyPr wrap="square" lIns="0" tIns="0" rIns="0" bIns="0" rtlCol="0" anchor="t"/>
          <a:lstStyle/>
          <a:p>
            <a:pPr indent="0" marL="0">
              <a:buNone/>
            </a:pPr>
            <a:r>
              <a:rPr lang="en-US" sz="1800" b="1" dirty="0">
                <a:solidFill>
                  <a:schemeClr val="tx1"/>
                </a:solidFill>
              </a:rPr>
              <a:t>Partager le lien</a:t>
            </a:r>
            <a:endParaRPr lang="en-US" sz="1800" dirty="0"/>
          </a:p>
        </p:txBody>
      </p:sp>
      <p:sp>
        <p:nvSpPr>
          <p:cNvPr id="21" name="Text 16"/>
          <p:cNvSpPr txBox="1"/>
          <p:nvPr/>
        </p:nvSpPr>
        <p:spPr>
          <a:xfrm>
            <a:off x="6446520" y="3977640"/>
            <a:ext cx="2148840" cy="1828800"/>
          </a:xfrm>
          <a:prstGeom prst="rect">
            <a:avLst/>
          </a:prstGeom>
          <a:noFill/>
          <a:ln/>
        </p:spPr>
        <p:txBody>
          <a:bodyPr wrap="square" lIns="0" tIns="0" rIns="0" bIns="0" rtlCol="0" anchor="t"/>
          <a:lstStyle/>
          <a:p>
            <a:pPr indent="0" marL="0">
              <a:buNone/>
            </a:pPr>
            <a:r>
              <a:rPr lang="en-US" sz="1400" dirty="0">
                <a:solidFill>
                  <a:schemeClr val="tx1"/>
                </a:solidFill>
              </a:rPr>
              <a:t>Lien invités (avec carte d’invitation) ou lien liste seule, envoyé par WhatsApp.</a:t>
            </a:r>
            <a:endParaRPr lang="en-US" sz="1400" dirty="0"/>
          </a:p>
        </p:txBody>
      </p:sp>
      <p:sp>
        <p:nvSpPr>
          <p:cNvPr id="22" name="Shape 17"/>
          <p:cNvSpPr/>
          <p:nvPr/>
        </p:nvSpPr>
        <p:spPr>
          <a:xfrm>
            <a:off x="9372600" y="1737360"/>
            <a:ext cx="1005840" cy="1005840"/>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9624060" y="1988820"/>
            <a:ext cx="502920" cy="502920"/>
          </a:xfrm>
          <a:prstGeom prst="rect">
            <a:avLst/>
          </a:prstGeom>
        </p:spPr>
      </p:pic>
      <p:sp>
        <p:nvSpPr>
          <p:cNvPr id="24" name="Text 18"/>
          <p:cNvSpPr txBox="1"/>
          <p:nvPr/>
        </p:nvSpPr>
        <p:spPr>
          <a:xfrm>
            <a:off x="10515600" y="1783080"/>
            <a:ext cx="7315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p:txBody>
      </p:sp>
      <p:sp>
        <p:nvSpPr>
          <p:cNvPr id="25" name="etape3"/>
          <p:cNvSpPr/>
          <p:nvPr/>
        </p:nvSpPr>
        <p:spPr>
          <a:xfrm>
            <a:off x="9052560" y="3017520"/>
            <a:ext cx="2606040" cy="2926080"/>
          </a:xfrm>
          <a:prstGeom prst="roundRect">
            <a:avLst>
              <a:gd name="adj" fmla="val 6316"/>
            </a:avLst>
          </a:prstGeom>
          <a:solidFill>
            <a:schemeClr val="bg2"/>
          </a:solidFill>
          <a:ln/>
          <a:effectLst>
            <a:outerShdw sx="100000" sy="100000" kx="0" ky="0" algn="bl" rotWithShape="0" blurRad="101600" dist="25400" dir="5400000">
              <a:srgbClr val="1E1428">
                <a:alpha val="12000"/>
              </a:srgbClr>
            </a:outerShdw>
          </a:effectLst>
        </p:spPr>
      </p:sp>
      <p:sp>
        <p:nvSpPr>
          <p:cNvPr id="26" name="Text 20"/>
          <p:cNvSpPr txBox="1"/>
          <p:nvPr/>
        </p:nvSpPr>
        <p:spPr>
          <a:xfrm>
            <a:off x="9281160" y="3200400"/>
            <a:ext cx="2148840" cy="731520"/>
          </a:xfrm>
          <a:prstGeom prst="rect">
            <a:avLst/>
          </a:prstGeom>
          <a:noFill/>
          <a:ln/>
        </p:spPr>
        <p:txBody>
          <a:bodyPr wrap="square" lIns="0" tIns="0" rIns="0" bIns="0" rtlCol="0" anchor="t"/>
          <a:lstStyle/>
          <a:p>
            <a:pPr indent="0" marL="0">
              <a:buNone/>
            </a:pPr>
            <a:r>
              <a:rPr lang="en-US" sz="1800" b="1" dirty="0">
                <a:solidFill>
                  <a:schemeClr val="tx1"/>
                </a:solidFill>
              </a:rPr>
              <a:t>Découvrir qui, après la fête</a:t>
            </a:r>
            <a:endParaRPr lang="en-US" sz="1800" dirty="0"/>
          </a:p>
        </p:txBody>
      </p:sp>
      <p:sp>
        <p:nvSpPr>
          <p:cNvPr id="27" name="Text 21"/>
          <p:cNvSpPr txBox="1"/>
          <p:nvPr/>
        </p:nvSpPr>
        <p:spPr>
          <a:xfrm>
            <a:off x="9281160" y="3977640"/>
            <a:ext cx="2148840" cy="1828800"/>
          </a:xfrm>
          <a:prstGeom prst="rect">
            <a:avLst/>
          </a:prstGeom>
          <a:noFill/>
          <a:ln/>
        </p:spPr>
        <p:txBody>
          <a:bodyPr wrap="square" lIns="0" tIns="0" rIns="0" bIns="0" rtlCol="0" anchor="t"/>
          <a:lstStyle/>
          <a:p>
            <a:pPr indent="0" marL="0">
              <a:buNone/>
            </a:pPr>
            <a:r>
              <a:rPr lang="en-US" sz="1400" dirty="0">
                <a:solidFill>
                  <a:schemeClr val="tx1"/>
                </a:solidFill>
              </a:rPr>
              <a:t>Les proches réservent anonymement. Le lendemain, les cartes se retournent.</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Les objectifs du projet</a:t>
            </a:r>
            <a:endParaRPr lang="en-US" sz="3600" dirty="0"/>
          </a:p>
        </p:txBody>
      </p:sp>
      <p:sp>
        <p:nvSpPr>
          <p:cNvPr id="3" name="objectif0"/>
          <p:cNvSpPr/>
          <p:nvPr/>
        </p:nvSpPr>
        <p:spPr>
          <a:xfrm>
            <a:off x="548640" y="1463040"/>
            <a:ext cx="5440680" cy="2057400"/>
          </a:xfrm>
          <a:prstGeom prst="roundRect">
            <a:avLst>
              <a:gd name="adj" fmla="val 8000"/>
            </a:avLst>
          </a:prstGeom>
          <a:solidFill>
            <a:srgbClr val="FFFFFF"/>
          </a:solidFill>
          <a:ln/>
          <a:effectLst>
            <a:outerShdw sx="100000" sy="100000" kx="0" ky="0" algn="bl" rotWithShape="0" blurRad="101600" dist="25400" dir="5400000">
              <a:srgbClr val="1E1428">
                <a:alpha val="12000"/>
              </a:srgbClr>
            </a:outerShdw>
          </a:effectLst>
        </p:spPr>
      </p:sp>
      <p:sp>
        <p:nvSpPr>
          <p:cNvPr id="4" name="Shape 2"/>
          <p:cNvSpPr/>
          <p:nvPr/>
        </p:nvSpPr>
        <p:spPr>
          <a:xfrm>
            <a:off x="868680" y="1828800"/>
            <a:ext cx="822960" cy="822960"/>
          </a:xfrm>
          <a:prstGeom prst="ellipse">
            <a:avLst/>
          </a:prstGeom>
          <a:solidFill>
            <a:schemeClr val="bg2"/>
          </a:solidFill>
          <a:ln/>
        </p:spPr>
      </p:sp>
      <p:pic>
        <p:nvPicPr>
          <p:cNvPr id="5" name="Image 0" descr="preencoded.png">    </p:cNvPr>
          <p:cNvPicPr>
            <a:picLocks noChangeAspect="1"/>
          </p:cNvPicPr>
          <p:nvPr/>
        </p:nvPicPr>
        <p:blipFill>
          <a:blip r:embed="rId1"/>
          <a:stretch>
            <a:fillRect/>
          </a:stretch>
        </p:blipFill>
        <p:spPr>
          <a:xfrm>
            <a:off x="1074420" y="2034540"/>
            <a:ext cx="411480" cy="411480"/>
          </a:xfrm>
          <a:prstGeom prst="rect">
            <a:avLst/>
          </a:prstGeom>
        </p:spPr>
      </p:pic>
      <p:sp>
        <p:nvSpPr>
          <p:cNvPr id="6" name="Text 3"/>
          <p:cNvSpPr txBox="1"/>
          <p:nvPr/>
        </p:nvSpPr>
        <p:spPr>
          <a:xfrm>
            <a:off x="1920240" y="1783080"/>
            <a:ext cx="3840480" cy="502920"/>
          </a:xfrm>
          <a:prstGeom prst="rect">
            <a:avLst/>
          </a:prstGeom>
          <a:noFill/>
          <a:ln/>
        </p:spPr>
        <p:txBody>
          <a:bodyPr wrap="square" lIns="0" tIns="0" rIns="0" bIns="0" rtlCol="0" anchor="ctr"/>
          <a:lstStyle/>
          <a:p>
            <a:pPr indent="0" marL="0">
              <a:buNone/>
            </a:pPr>
            <a:r>
              <a:rPr lang="en-US" sz="2000" b="1" dirty="0">
                <a:solidFill>
                  <a:schemeClr val="tx1"/>
                </a:solidFill>
              </a:rPr>
              <a:t>Zéro doublon</a:t>
            </a:r>
            <a:endParaRPr lang="en-US" sz="2000" dirty="0"/>
          </a:p>
        </p:txBody>
      </p:sp>
      <p:sp>
        <p:nvSpPr>
          <p:cNvPr id="7" name="Text 4"/>
          <p:cNvSpPr txBox="1"/>
          <p:nvPr/>
        </p:nvSpPr>
        <p:spPr>
          <a:xfrm>
            <a:off x="1920240" y="2331720"/>
            <a:ext cx="3840480" cy="1005840"/>
          </a:xfrm>
          <a:prstGeom prst="rect">
            <a:avLst/>
          </a:prstGeom>
          <a:noFill/>
          <a:ln/>
        </p:spPr>
        <p:txBody>
          <a:bodyPr wrap="square" lIns="0" tIns="0" rIns="0" bIns="0" rtlCol="0" anchor="t"/>
          <a:lstStyle/>
          <a:p>
            <a:pPr indent="0" marL="0">
              <a:buNone/>
            </a:pPr>
            <a:r>
              <a:rPr lang="en-US" sz="1400" dirty="0">
                <a:solidFill>
                  <a:schemeClr val="accent6"/>
                </a:solidFill>
              </a:rPr>
              <a:t>Un cadeau réservé s’emballe pour tout le monde : personne ne peut le reprendre.</a:t>
            </a:r>
            <a:endParaRPr lang="en-US" sz="1400" dirty="0"/>
          </a:p>
        </p:txBody>
      </p:sp>
      <p:sp>
        <p:nvSpPr>
          <p:cNvPr id="8" name="objectif1"/>
          <p:cNvSpPr/>
          <p:nvPr/>
        </p:nvSpPr>
        <p:spPr>
          <a:xfrm>
            <a:off x="6172200" y="1463040"/>
            <a:ext cx="5440680" cy="2057400"/>
          </a:xfrm>
          <a:prstGeom prst="roundRect">
            <a:avLst>
              <a:gd name="adj" fmla="val 8000"/>
            </a:avLst>
          </a:prstGeom>
          <a:solidFill>
            <a:schemeClr val="tx1"/>
          </a:solidFill>
          <a:ln/>
          <a:effectLst>
            <a:outerShdw sx="100000" sy="100000" kx="0" ky="0" algn="bl" rotWithShape="0" blurRad="101600" dist="25400" dir="5400000">
              <a:srgbClr val="1E1428">
                <a:alpha val="12000"/>
              </a:srgbClr>
            </a:outerShdw>
          </a:effectLst>
        </p:spPr>
      </p:sp>
      <p:sp>
        <p:nvSpPr>
          <p:cNvPr id="9" name="Shape 6"/>
          <p:cNvSpPr/>
          <p:nvPr/>
        </p:nvSpPr>
        <p:spPr>
          <a:xfrm>
            <a:off x="6492240" y="1828800"/>
            <a:ext cx="822960" cy="82296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697980" y="2034540"/>
            <a:ext cx="411480" cy="411480"/>
          </a:xfrm>
          <a:prstGeom prst="rect">
            <a:avLst/>
          </a:prstGeom>
        </p:spPr>
      </p:pic>
      <p:sp>
        <p:nvSpPr>
          <p:cNvPr id="11" name="Text 7"/>
          <p:cNvSpPr txBox="1"/>
          <p:nvPr/>
        </p:nvSpPr>
        <p:spPr>
          <a:xfrm>
            <a:off x="7543800" y="1783080"/>
            <a:ext cx="3840480" cy="502920"/>
          </a:xfrm>
          <a:prstGeom prst="rect">
            <a:avLst/>
          </a:prstGeom>
          <a:noFill/>
          <a:ln/>
        </p:spPr>
        <p:txBody>
          <a:bodyPr wrap="square" lIns="0" tIns="0" rIns="0" bIns="0" rtlCol="0" anchor="ctr"/>
          <a:lstStyle/>
          <a:p>
            <a:pPr indent="0" marL="0">
              <a:buNone/>
            </a:pPr>
            <a:r>
              <a:rPr lang="en-US" sz="2000" b="1" dirty="0">
                <a:solidFill>
                  <a:srgbClr val="FFFFFF"/>
                </a:solidFill>
              </a:rPr>
              <a:t>Surprise garantie</a:t>
            </a:r>
            <a:endParaRPr lang="en-US" sz="2000" dirty="0"/>
          </a:p>
        </p:txBody>
      </p:sp>
      <p:sp>
        <p:nvSpPr>
          <p:cNvPr id="12" name="Text 8"/>
          <p:cNvSpPr txBox="1"/>
          <p:nvPr/>
        </p:nvSpPr>
        <p:spPr>
          <a:xfrm>
            <a:off x="7543800" y="2331720"/>
            <a:ext cx="3840480" cy="1005840"/>
          </a:xfrm>
          <a:prstGeom prst="rect">
            <a:avLst/>
          </a:prstGeom>
          <a:noFill/>
          <a:ln/>
        </p:spPr>
        <p:txBody>
          <a:bodyPr wrap="square" lIns="0" tIns="0" rIns="0" bIns="0" rtlCol="0" anchor="t"/>
          <a:lstStyle/>
          <a:p>
            <a:pPr indent="0" marL="0">
              <a:buNone/>
            </a:pPr>
            <a:r>
              <a:rPr lang="en-US" sz="1400" dirty="0">
                <a:solidFill>
                  <a:schemeClr val="bg2"/>
                </a:solidFill>
              </a:rPr>
              <a:t>L’anonymat est imposé par la base de données, pas seulement par l’écran.</a:t>
            </a:r>
            <a:endParaRPr lang="en-US" sz="1400" dirty="0"/>
          </a:p>
        </p:txBody>
      </p:sp>
      <p:sp>
        <p:nvSpPr>
          <p:cNvPr id="13" name="objectif2"/>
          <p:cNvSpPr/>
          <p:nvPr/>
        </p:nvSpPr>
        <p:spPr>
          <a:xfrm>
            <a:off x="548640" y="3749040"/>
            <a:ext cx="5440680" cy="2057400"/>
          </a:xfrm>
          <a:prstGeom prst="roundRect">
            <a:avLst>
              <a:gd name="adj" fmla="val 8000"/>
            </a:avLst>
          </a:prstGeom>
          <a:solidFill>
            <a:srgbClr val="FFFFFF"/>
          </a:solidFill>
          <a:ln/>
          <a:effectLst>
            <a:outerShdw sx="100000" sy="100000" kx="0" ky="0" algn="bl" rotWithShape="0" blurRad="101600" dist="25400" dir="5400000">
              <a:srgbClr val="1E1428">
                <a:alpha val="12000"/>
              </a:srgbClr>
            </a:outerShdw>
          </a:effectLst>
        </p:spPr>
      </p:sp>
      <p:sp>
        <p:nvSpPr>
          <p:cNvPr id="14" name="Shape 10"/>
          <p:cNvSpPr/>
          <p:nvPr/>
        </p:nvSpPr>
        <p:spPr>
          <a:xfrm>
            <a:off x="868680" y="4114800"/>
            <a:ext cx="822960" cy="822960"/>
          </a:xfrm>
          <a:prstGeom prst="ellipse">
            <a:avLst/>
          </a:prstGeom>
          <a:solidFill>
            <a:schemeClr val="bg2"/>
          </a:solidFill>
          <a:ln/>
        </p:spPr>
      </p:sp>
      <p:pic>
        <p:nvPicPr>
          <p:cNvPr id="15" name="Image 2" descr="preencoded.png">    </p:cNvPr>
          <p:cNvPicPr>
            <a:picLocks noChangeAspect="1"/>
          </p:cNvPicPr>
          <p:nvPr/>
        </p:nvPicPr>
        <p:blipFill>
          <a:blip r:embed="rId3"/>
          <a:stretch>
            <a:fillRect/>
          </a:stretch>
        </p:blipFill>
        <p:spPr>
          <a:xfrm>
            <a:off x="1074420" y="4320540"/>
            <a:ext cx="411480" cy="411480"/>
          </a:xfrm>
          <a:prstGeom prst="rect">
            <a:avLst/>
          </a:prstGeom>
        </p:spPr>
      </p:pic>
      <p:sp>
        <p:nvSpPr>
          <p:cNvPr id="16" name="Text 11"/>
          <p:cNvSpPr txBox="1"/>
          <p:nvPr/>
        </p:nvSpPr>
        <p:spPr>
          <a:xfrm>
            <a:off x="1920240" y="4069080"/>
            <a:ext cx="3840480" cy="502920"/>
          </a:xfrm>
          <a:prstGeom prst="rect">
            <a:avLst/>
          </a:prstGeom>
          <a:noFill/>
          <a:ln/>
        </p:spPr>
        <p:txBody>
          <a:bodyPr wrap="square" lIns="0" tIns="0" rIns="0" bIns="0" rtlCol="0" anchor="ctr"/>
          <a:lstStyle/>
          <a:p>
            <a:pPr indent="0" marL="0">
              <a:buNone/>
            </a:pPr>
            <a:r>
              <a:rPr lang="en-US" sz="2000" b="1" dirty="0">
                <a:solidFill>
                  <a:schemeClr val="tx1"/>
                </a:solidFill>
              </a:rPr>
              <a:t>Tout au même endroit</a:t>
            </a:r>
            <a:endParaRPr lang="en-US" sz="2000" dirty="0"/>
          </a:p>
        </p:txBody>
      </p:sp>
      <p:sp>
        <p:nvSpPr>
          <p:cNvPr id="17" name="Text 12"/>
          <p:cNvSpPr txBox="1"/>
          <p:nvPr/>
        </p:nvSpPr>
        <p:spPr>
          <a:xfrm>
            <a:off x="1920240" y="4617720"/>
            <a:ext cx="3840480" cy="1005840"/>
          </a:xfrm>
          <a:prstGeom prst="rect">
            <a:avLst/>
          </a:prstGeom>
          <a:noFill/>
          <a:ln/>
        </p:spPr>
        <p:txBody>
          <a:bodyPr wrap="square" lIns="0" tIns="0" rIns="0" bIns="0" rtlCol="0" anchor="t"/>
          <a:lstStyle/>
          <a:p>
            <a:pPr indent="0" marL="0">
              <a:buNone/>
            </a:pPr>
            <a:r>
              <a:rPr lang="en-US" sz="1400" dirty="0">
                <a:solidFill>
                  <a:schemeClr val="accent6"/>
                </a:solidFill>
              </a:rPr>
              <a:t>Invitation, lieu, dress code, réponses « oui, peut-être, non » et nombre d’invités.</a:t>
            </a:r>
            <a:endParaRPr lang="en-US" sz="1400" dirty="0"/>
          </a:p>
        </p:txBody>
      </p:sp>
      <p:sp>
        <p:nvSpPr>
          <p:cNvPr id="18" name="objectif3"/>
          <p:cNvSpPr/>
          <p:nvPr/>
        </p:nvSpPr>
        <p:spPr>
          <a:xfrm>
            <a:off x="6172200" y="3749040"/>
            <a:ext cx="5440680" cy="2057400"/>
          </a:xfrm>
          <a:prstGeom prst="roundRect">
            <a:avLst>
              <a:gd name="adj" fmla="val 8000"/>
            </a:avLst>
          </a:prstGeom>
          <a:solidFill>
            <a:srgbClr val="FFFFFF"/>
          </a:solidFill>
          <a:ln/>
          <a:effectLst>
            <a:outerShdw sx="100000" sy="100000" kx="0" ky="0" algn="bl" rotWithShape="0" blurRad="101600" dist="25400" dir="5400000">
              <a:srgbClr val="1E1428">
                <a:alpha val="12000"/>
              </a:srgbClr>
            </a:outerShdw>
          </a:effectLst>
        </p:spPr>
      </p:sp>
      <p:sp>
        <p:nvSpPr>
          <p:cNvPr id="19" name="Shape 14"/>
          <p:cNvSpPr/>
          <p:nvPr/>
        </p:nvSpPr>
        <p:spPr>
          <a:xfrm>
            <a:off x="6492240" y="4114800"/>
            <a:ext cx="822960" cy="822960"/>
          </a:xfrm>
          <a:prstGeom prst="ellipse">
            <a:avLst/>
          </a:prstGeom>
          <a:solidFill>
            <a:schemeClr val="bg2"/>
          </a:solidFill>
          <a:ln/>
        </p:spPr>
      </p:sp>
      <p:pic>
        <p:nvPicPr>
          <p:cNvPr id="20" name="Image 3" descr="preencoded.png">    </p:cNvPr>
          <p:cNvPicPr>
            <a:picLocks noChangeAspect="1"/>
          </p:cNvPicPr>
          <p:nvPr/>
        </p:nvPicPr>
        <p:blipFill>
          <a:blip r:embed="rId4"/>
          <a:stretch>
            <a:fillRect/>
          </a:stretch>
        </p:blipFill>
        <p:spPr>
          <a:xfrm>
            <a:off x="6697980" y="4320540"/>
            <a:ext cx="411480" cy="411480"/>
          </a:xfrm>
          <a:prstGeom prst="rect">
            <a:avLst/>
          </a:prstGeom>
        </p:spPr>
      </p:pic>
      <p:sp>
        <p:nvSpPr>
          <p:cNvPr id="21" name="Text 15"/>
          <p:cNvSpPr txBox="1"/>
          <p:nvPr/>
        </p:nvSpPr>
        <p:spPr>
          <a:xfrm>
            <a:off x="7543800" y="4069080"/>
            <a:ext cx="3840480" cy="502920"/>
          </a:xfrm>
          <a:prstGeom prst="rect">
            <a:avLst/>
          </a:prstGeom>
          <a:noFill/>
          <a:ln/>
        </p:spPr>
        <p:txBody>
          <a:bodyPr wrap="square" lIns="0" tIns="0" rIns="0" bIns="0" rtlCol="0" anchor="ctr"/>
          <a:lstStyle/>
          <a:p>
            <a:pPr indent="0" marL="0">
              <a:buNone/>
            </a:pPr>
            <a:r>
              <a:rPr lang="en-US" sz="2000" b="1" dirty="0">
                <a:solidFill>
                  <a:schemeClr val="tx1"/>
                </a:solidFill>
              </a:rPr>
              <a:t>Simple et local</a:t>
            </a:r>
            <a:endParaRPr lang="en-US" sz="2000" dirty="0"/>
          </a:p>
        </p:txBody>
      </p:sp>
      <p:sp>
        <p:nvSpPr>
          <p:cNvPr id="22" name="Text 16"/>
          <p:cNvSpPr txBox="1"/>
          <p:nvPr/>
        </p:nvSpPr>
        <p:spPr>
          <a:xfrm>
            <a:off x="7543800" y="4617720"/>
            <a:ext cx="3840480" cy="1005840"/>
          </a:xfrm>
          <a:prstGeom prst="rect">
            <a:avLst/>
          </a:prstGeom>
          <a:noFill/>
          <a:ln/>
        </p:spPr>
        <p:txBody>
          <a:bodyPr wrap="square" lIns="0" tIns="0" rIns="0" bIns="0" rtlCol="0" anchor="t"/>
          <a:lstStyle/>
          <a:p>
            <a:pPr indent="0" marL="0">
              <a:buNone/>
            </a:pPr>
            <a:r>
              <a:rPr lang="en-US" sz="1400" dirty="0">
                <a:solidFill>
                  <a:schemeClr val="accent6"/>
                </a:solidFill>
              </a:rPr>
              <a:t>En français, montants en FCFA, inscription par téléphone, paiement mobile money.</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Qui utilise l’application</a:t>
            </a:r>
            <a:endParaRPr lang="en-US" sz="3600" dirty="0"/>
          </a:p>
        </p:txBody>
      </p:sp>
      <p:sp>
        <p:nvSpPr>
          <p:cNvPr id="3" name="role0"/>
          <p:cNvSpPr/>
          <p:nvPr/>
        </p:nvSpPr>
        <p:spPr>
          <a:xfrm>
            <a:off x="548640" y="1463040"/>
            <a:ext cx="2606040" cy="44805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4" name="Shape 2"/>
          <p:cNvSpPr/>
          <p:nvPr/>
        </p:nvSpPr>
        <p:spPr>
          <a:xfrm>
            <a:off x="822960" y="173736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822960" y="269748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Célébrant</a:t>
            </a:r>
            <a:endParaRPr lang="en-US" sz="2000" dirty="0"/>
          </a:p>
        </p:txBody>
      </p:sp>
      <p:sp>
        <p:nvSpPr>
          <p:cNvPr id="7" name="Text 4"/>
          <p:cNvSpPr txBox="1"/>
          <p:nvPr/>
        </p:nvSpPr>
        <p:spPr>
          <a:xfrm>
            <a:off x="822960" y="3200400"/>
            <a:ext cx="2103120" cy="2011680"/>
          </a:xfrm>
          <a:prstGeom prst="rect">
            <a:avLst/>
          </a:prstGeom>
          <a:noFill/>
          <a:ln/>
        </p:spPr>
        <p:txBody>
          <a:bodyPr wrap="square" lIns="0" tIns="0" rIns="0" bIns="0" rtlCol="0" anchor="t"/>
          <a:lstStyle/>
          <a:p>
            <a:pPr indent="0" marL="0">
              <a:buNone/>
            </a:pPr>
            <a:r>
              <a:rPr lang="en-US" sz="1400" dirty="0">
                <a:solidFill>
                  <a:schemeClr val="accent6"/>
                </a:solidFill>
              </a:rPr>
              <a:t>Crée son anniversaire et sa liste, paie son accès, publie, suit les réservations (anonymes) et les présences, découvre les offreurs.</a:t>
            </a:r>
            <a:endParaRPr lang="en-US" sz="1400" dirty="0"/>
          </a:p>
        </p:txBody>
      </p:sp>
      <p:sp>
        <p:nvSpPr>
          <p:cNvPr id="8" name="Shape 5"/>
          <p:cNvSpPr/>
          <p:nvPr/>
        </p:nvSpPr>
        <p:spPr>
          <a:xfrm>
            <a:off x="822960" y="5349240"/>
            <a:ext cx="1371600" cy="365760"/>
          </a:xfrm>
          <a:prstGeom prst="roundRect">
            <a:avLst>
              <a:gd name="adj" fmla="val 50000"/>
            </a:avLst>
          </a:prstGeom>
          <a:solidFill>
            <a:schemeClr val="bg2"/>
          </a:solidFill>
          <a:ln/>
        </p:spPr>
      </p:sp>
      <p:sp>
        <p:nvSpPr>
          <p:cNvPr id="9" name="Text 6"/>
          <p:cNvSpPr txBox="1"/>
          <p:nvPr/>
        </p:nvSpPr>
        <p:spPr>
          <a:xfrm>
            <a:off x="822960" y="5349240"/>
            <a:ext cx="1371600" cy="365760"/>
          </a:xfrm>
          <a:prstGeom prst="rect">
            <a:avLst/>
          </a:prstGeom>
          <a:noFill/>
          <a:ln/>
        </p:spPr>
        <p:txBody>
          <a:bodyPr wrap="square" lIns="0" tIns="0" rIns="0" bIns="0" rtlCol="0" anchor="ctr"/>
          <a:lstStyle/>
          <a:p>
            <a:pPr algn="ctr" indent="0" marL="0">
              <a:buNone/>
            </a:pPr>
            <a:r>
              <a:rPr lang="en-US" sz="1200" b="1" dirty="0">
                <a:solidFill>
                  <a:schemeClr val="tx1"/>
                </a:solidFill>
              </a:rPr>
              <a:t>Disponible</a:t>
            </a:r>
            <a:endParaRPr lang="en-US" sz="1200" dirty="0"/>
          </a:p>
        </p:txBody>
      </p:sp>
      <p:sp>
        <p:nvSpPr>
          <p:cNvPr id="10" name="role1"/>
          <p:cNvSpPr/>
          <p:nvPr/>
        </p:nvSpPr>
        <p:spPr>
          <a:xfrm>
            <a:off x="3383280" y="1463040"/>
            <a:ext cx="2606040" cy="44805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11" name="Shape 8"/>
          <p:cNvSpPr/>
          <p:nvPr/>
        </p:nvSpPr>
        <p:spPr>
          <a:xfrm>
            <a:off x="3657600" y="1737360"/>
            <a:ext cx="822960" cy="822960"/>
          </a:xfrm>
          <a:prstGeom prst="ellipse">
            <a:avLst/>
          </a:prstGeom>
          <a:solidFill>
            <a:schemeClr val="accent3"/>
          </a:solidFill>
          <a:ln/>
        </p:spPr>
      </p:sp>
      <p:pic>
        <p:nvPicPr>
          <p:cNvPr id="12" name="Image 1" descr="preencoded.png">    </p:cNvPr>
          <p:cNvPicPr>
            <a:picLocks noChangeAspect="1"/>
          </p:cNvPicPr>
          <p:nvPr/>
        </p:nvPicPr>
        <p:blipFill>
          <a:blip r:embed="rId2"/>
          <a:stretch>
            <a:fillRect/>
          </a:stretch>
        </p:blipFill>
        <p:spPr>
          <a:xfrm>
            <a:off x="3863340" y="1943100"/>
            <a:ext cx="411480" cy="411480"/>
          </a:xfrm>
          <a:prstGeom prst="rect">
            <a:avLst/>
          </a:prstGeom>
        </p:spPr>
      </p:pic>
      <p:sp>
        <p:nvSpPr>
          <p:cNvPr id="13" name="Text 9"/>
          <p:cNvSpPr txBox="1"/>
          <p:nvPr/>
        </p:nvSpPr>
        <p:spPr>
          <a:xfrm>
            <a:off x="3657600" y="269748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Ami / invité</a:t>
            </a:r>
            <a:endParaRPr lang="en-US" sz="2000" dirty="0"/>
          </a:p>
        </p:txBody>
      </p:sp>
      <p:sp>
        <p:nvSpPr>
          <p:cNvPr id="14" name="Text 10"/>
          <p:cNvSpPr txBox="1"/>
          <p:nvPr/>
        </p:nvSpPr>
        <p:spPr>
          <a:xfrm>
            <a:off x="3657600" y="3200400"/>
            <a:ext cx="2103120" cy="2011680"/>
          </a:xfrm>
          <a:prstGeom prst="rect">
            <a:avLst/>
          </a:prstGeom>
          <a:noFill/>
          <a:ln/>
        </p:spPr>
        <p:txBody>
          <a:bodyPr wrap="square" lIns="0" tIns="0" rIns="0" bIns="0" rtlCol="0" anchor="t"/>
          <a:lstStyle/>
          <a:p>
            <a:pPr indent="0" marL="0">
              <a:buNone/>
            </a:pPr>
            <a:r>
              <a:rPr lang="en-US" sz="1400" dirty="0">
                <a:solidFill>
                  <a:schemeClr val="accent6"/>
                </a:solidFill>
              </a:rPr>
              <a:t>Sans compte : ouvre le lien, voit l’invitation, répond présent, réserve un cadeau et laisse un mot.</a:t>
            </a:r>
            <a:endParaRPr lang="en-US" sz="1400" dirty="0"/>
          </a:p>
        </p:txBody>
      </p:sp>
      <p:sp>
        <p:nvSpPr>
          <p:cNvPr id="15" name="Shape 11"/>
          <p:cNvSpPr/>
          <p:nvPr/>
        </p:nvSpPr>
        <p:spPr>
          <a:xfrm>
            <a:off x="3657600" y="5349240"/>
            <a:ext cx="1371600" cy="365760"/>
          </a:xfrm>
          <a:prstGeom prst="roundRect">
            <a:avLst>
              <a:gd name="adj" fmla="val 50000"/>
            </a:avLst>
          </a:prstGeom>
          <a:solidFill>
            <a:schemeClr val="bg2"/>
          </a:solidFill>
          <a:ln/>
        </p:spPr>
      </p:sp>
      <p:sp>
        <p:nvSpPr>
          <p:cNvPr id="16" name="Text 12"/>
          <p:cNvSpPr txBox="1"/>
          <p:nvPr/>
        </p:nvSpPr>
        <p:spPr>
          <a:xfrm>
            <a:off x="3657600" y="5349240"/>
            <a:ext cx="1371600" cy="365760"/>
          </a:xfrm>
          <a:prstGeom prst="rect">
            <a:avLst/>
          </a:prstGeom>
          <a:noFill/>
          <a:ln/>
        </p:spPr>
        <p:txBody>
          <a:bodyPr wrap="square" lIns="0" tIns="0" rIns="0" bIns="0" rtlCol="0" anchor="ctr"/>
          <a:lstStyle/>
          <a:p>
            <a:pPr algn="ctr" indent="0" marL="0">
              <a:buNone/>
            </a:pPr>
            <a:r>
              <a:rPr lang="en-US" sz="1200" b="1" dirty="0">
                <a:solidFill>
                  <a:schemeClr val="tx1"/>
                </a:solidFill>
              </a:rPr>
              <a:t>Disponible</a:t>
            </a:r>
            <a:endParaRPr lang="en-US" sz="1200" dirty="0"/>
          </a:p>
        </p:txBody>
      </p:sp>
      <p:sp>
        <p:nvSpPr>
          <p:cNvPr id="17" name="role2"/>
          <p:cNvSpPr/>
          <p:nvPr/>
        </p:nvSpPr>
        <p:spPr>
          <a:xfrm>
            <a:off x="6217920" y="1463040"/>
            <a:ext cx="2606040" cy="44805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18" name="Shape 14"/>
          <p:cNvSpPr/>
          <p:nvPr/>
        </p:nvSpPr>
        <p:spPr>
          <a:xfrm>
            <a:off x="6492240" y="1737360"/>
            <a:ext cx="822960" cy="822960"/>
          </a:xfrm>
          <a:prstGeom prst="ellipse">
            <a:avLst/>
          </a:prstGeom>
          <a:solidFill>
            <a:schemeClr val="tx2"/>
          </a:solidFill>
          <a:ln/>
        </p:spPr>
      </p:sp>
      <p:pic>
        <p:nvPicPr>
          <p:cNvPr id="19" name="Image 2" descr="preencoded.png">    </p:cNvPr>
          <p:cNvPicPr>
            <a:picLocks noChangeAspect="1"/>
          </p:cNvPicPr>
          <p:nvPr/>
        </p:nvPicPr>
        <p:blipFill>
          <a:blip r:embed="rId3"/>
          <a:stretch>
            <a:fillRect/>
          </a:stretch>
        </p:blipFill>
        <p:spPr>
          <a:xfrm>
            <a:off x="6697980" y="1943100"/>
            <a:ext cx="411480" cy="411480"/>
          </a:xfrm>
          <a:prstGeom prst="rect">
            <a:avLst/>
          </a:prstGeom>
        </p:spPr>
      </p:pic>
      <p:sp>
        <p:nvSpPr>
          <p:cNvPr id="20" name="Text 15"/>
          <p:cNvSpPr txBox="1"/>
          <p:nvPr/>
        </p:nvSpPr>
        <p:spPr>
          <a:xfrm>
            <a:off x="6492240" y="269748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Administrateur</a:t>
            </a:r>
            <a:endParaRPr lang="en-US" sz="2000" dirty="0"/>
          </a:p>
        </p:txBody>
      </p:sp>
      <p:sp>
        <p:nvSpPr>
          <p:cNvPr id="21" name="Text 16"/>
          <p:cNvSpPr txBox="1"/>
          <p:nvPr/>
        </p:nvSpPr>
        <p:spPr>
          <a:xfrm>
            <a:off x="6492240" y="3200400"/>
            <a:ext cx="2103120" cy="2011680"/>
          </a:xfrm>
          <a:prstGeom prst="rect">
            <a:avLst/>
          </a:prstGeom>
          <a:noFill/>
          <a:ln/>
        </p:spPr>
        <p:txBody>
          <a:bodyPr wrap="square" lIns="0" tIns="0" rIns="0" bIns="0" rtlCol="0" anchor="t"/>
          <a:lstStyle/>
          <a:p>
            <a:pPr indent="0" marL="0">
              <a:buNone/>
            </a:pPr>
            <a:r>
              <a:rPr lang="en-US" sz="1400" dirty="0">
                <a:solidFill>
                  <a:schemeClr val="accent6"/>
                </a:solidFill>
              </a:rPr>
              <a:t>Vérifie les paiements, accorde les accès en un geste, gère les utilisateurs, les messages et les tarifs.</a:t>
            </a:r>
            <a:endParaRPr lang="en-US" sz="1400" dirty="0"/>
          </a:p>
        </p:txBody>
      </p:sp>
      <p:sp>
        <p:nvSpPr>
          <p:cNvPr id="22" name="Shape 17"/>
          <p:cNvSpPr/>
          <p:nvPr/>
        </p:nvSpPr>
        <p:spPr>
          <a:xfrm>
            <a:off x="6492240" y="5349240"/>
            <a:ext cx="1371600" cy="365760"/>
          </a:xfrm>
          <a:prstGeom prst="roundRect">
            <a:avLst>
              <a:gd name="adj" fmla="val 50000"/>
            </a:avLst>
          </a:prstGeom>
          <a:solidFill>
            <a:schemeClr val="bg2"/>
          </a:solidFill>
          <a:ln/>
        </p:spPr>
      </p:sp>
      <p:sp>
        <p:nvSpPr>
          <p:cNvPr id="23" name="Text 18"/>
          <p:cNvSpPr txBox="1"/>
          <p:nvPr/>
        </p:nvSpPr>
        <p:spPr>
          <a:xfrm>
            <a:off x="6492240" y="5349240"/>
            <a:ext cx="1371600" cy="365760"/>
          </a:xfrm>
          <a:prstGeom prst="rect">
            <a:avLst/>
          </a:prstGeom>
          <a:noFill/>
          <a:ln/>
        </p:spPr>
        <p:txBody>
          <a:bodyPr wrap="square" lIns="0" tIns="0" rIns="0" bIns="0" rtlCol="0" anchor="ctr"/>
          <a:lstStyle/>
          <a:p>
            <a:pPr algn="ctr" indent="0" marL="0">
              <a:buNone/>
            </a:pPr>
            <a:r>
              <a:rPr lang="en-US" sz="1200" b="1" dirty="0">
                <a:solidFill>
                  <a:schemeClr val="tx1"/>
                </a:solidFill>
              </a:rPr>
              <a:t>Disponible</a:t>
            </a:r>
            <a:endParaRPr lang="en-US" sz="1200" dirty="0"/>
          </a:p>
        </p:txBody>
      </p:sp>
      <p:sp>
        <p:nvSpPr>
          <p:cNvPr id="24" name="role3"/>
          <p:cNvSpPr/>
          <p:nvPr/>
        </p:nvSpPr>
        <p:spPr>
          <a:xfrm>
            <a:off x="9052560" y="1463040"/>
            <a:ext cx="2606040" cy="4480560"/>
          </a:xfrm>
          <a:prstGeom prst="roundRect">
            <a:avLst>
              <a:gd name="adj" fmla="val 6316"/>
            </a:avLst>
          </a:prstGeom>
          <a:solidFill>
            <a:srgbClr val="FFFFFF"/>
          </a:solidFill>
          <a:ln/>
          <a:effectLst>
            <a:outerShdw sx="100000" sy="100000" kx="0" ky="0" algn="bl" rotWithShape="0" blurRad="101600" dist="25400" dir="5400000">
              <a:srgbClr val="1E1428">
                <a:alpha val="12000"/>
              </a:srgbClr>
            </a:outerShdw>
          </a:effectLst>
        </p:spPr>
      </p:sp>
      <p:sp>
        <p:nvSpPr>
          <p:cNvPr id="25" name="Shape 20"/>
          <p:cNvSpPr/>
          <p:nvPr/>
        </p:nvSpPr>
        <p:spPr>
          <a:xfrm>
            <a:off x="9326880" y="1737360"/>
            <a:ext cx="822960" cy="822960"/>
          </a:xfrm>
          <a:prstGeom prst="ellipse">
            <a:avLst/>
          </a:prstGeom>
          <a:solidFill>
            <a:schemeClr val="accent2"/>
          </a:solidFill>
          <a:ln/>
        </p:spPr>
      </p:sp>
      <p:pic>
        <p:nvPicPr>
          <p:cNvPr id="26" name="Image 3" descr="preencoded.png">    </p:cNvPr>
          <p:cNvPicPr>
            <a:picLocks noChangeAspect="1"/>
          </p:cNvPicPr>
          <p:nvPr/>
        </p:nvPicPr>
        <p:blipFill>
          <a:blip r:embed="rId4"/>
          <a:stretch>
            <a:fillRect/>
          </a:stretch>
        </p:blipFill>
        <p:spPr>
          <a:xfrm>
            <a:off x="9532620" y="1943100"/>
            <a:ext cx="411480" cy="411480"/>
          </a:xfrm>
          <a:prstGeom prst="rect">
            <a:avLst/>
          </a:prstGeom>
        </p:spPr>
      </p:pic>
      <p:sp>
        <p:nvSpPr>
          <p:cNvPr id="27" name="Text 21"/>
          <p:cNvSpPr txBox="1"/>
          <p:nvPr/>
        </p:nvSpPr>
        <p:spPr>
          <a:xfrm>
            <a:off x="9326880" y="2697480"/>
            <a:ext cx="2103120" cy="457200"/>
          </a:xfrm>
          <a:prstGeom prst="rect">
            <a:avLst/>
          </a:prstGeom>
          <a:noFill/>
          <a:ln/>
        </p:spPr>
        <p:txBody>
          <a:bodyPr wrap="square" lIns="0" tIns="0" rIns="0" bIns="0" rtlCol="0" anchor="ctr"/>
          <a:lstStyle/>
          <a:p>
            <a:pPr indent="0" marL="0">
              <a:buNone/>
            </a:pPr>
            <a:r>
              <a:rPr lang="en-US" sz="2000" b="1" dirty="0">
                <a:solidFill>
                  <a:schemeClr val="tx1"/>
                </a:solidFill>
              </a:rPr>
              <a:t>Boutique</a:t>
            </a:r>
            <a:endParaRPr lang="en-US" sz="2000" dirty="0"/>
          </a:p>
        </p:txBody>
      </p:sp>
      <p:sp>
        <p:nvSpPr>
          <p:cNvPr id="28" name="Text 22"/>
          <p:cNvSpPr txBox="1"/>
          <p:nvPr/>
        </p:nvSpPr>
        <p:spPr>
          <a:xfrm>
            <a:off x="9326880" y="3200400"/>
            <a:ext cx="2103120" cy="2011680"/>
          </a:xfrm>
          <a:prstGeom prst="rect">
            <a:avLst/>
          </a:prstGeom>
          <a:noFill/>
          <a:ln/>
        </p:spPr>
        <p:txBody>
          <a:bodyPr wrap="square" lIns="0" tIns="0" rIns="0" bIns="0" rtlCol="0" anchor="t"/>
          <a:lstStyle/>
          <a:p>
            <a:pPr indent="0" marL="0">
              <a:buNone/>
            </a:pPr>
            <a:r>
              <a:rPr lang="en-US" sz="1400" dirty="0">
                <a:solidFill>
                  <a:schemeClr val="accent6"/>
                </a:solidFill>
              </a:rPr>
              <a:t>Vitrine, articles, commandes, stock et livraison : commande directe d’un cadeau.</a:t>
            </a:r>
            <a:endParaRPr lang="en-US" sz="1400" dirty="0"/>
          </a:p>
        </p:txBody>
      </p:sp>
      <p:sp>
        <p:nvSpPr>
          <p:cNvPr id="29" name="Shape 23"/>
          <p:cNvSpPr/>
          <p:nvPr/>
        </p:nvSpPr>
        <p:spPr>
          <a:xfrm>
            <a:off x="9326880" y="5349240"/>
            <a:ext cx="1371600" cy="365760"/>
          </a:xfrm>
          <a:prstGeom prst="roundRect">
            <a:avLst>
              <a:gd name="adj" fmla="val 50000"/>
            </a:avLst>
          </a:prstGeom>
          <a:solidFill>
            <a:schemeClr val="accent2"/>
          </a:solidFill>
          <a:ln/>
        </p:spPr>
      </p:sp>
      <p:sp>
        <p:nvSpPr>
          <p:cNvPr id="30" name="Text 24"/>
          <p:cNvSpPr txBox="1"/>
          <p:nvPr/>
        </p:nvSpPr>
        <p:spPr>
          <a:xfrm>
            <a:off x="9326880" y="534924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rPr>
              <a:t>Bientôt</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18872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Les technologies</a:t>
            </a:r>
            <a:endParaRPr lang="en-US" sz="4400" dirty="0"/>
          </a:p>
        </p:txBody>
      </p:sp>
      <p:sp>
        <p:nvSpPr>
          <p:cNvPr id="3" name="Text 0"/>
          <p:cNvSpPr/>
          <p:nvPr>
            <p:ph idx="101" type="body" hasCustomPrompt="1"/>
          </p:nvPr>
        </p:nvSpPr>
        <p:spPr>
          <a:xfrm>
            <a:off x="731520" y="3611880"/>
            <a:ext cx="8229600" cy="914400"/>
          </a:xfrm>
          <a:prstGeom prst="rect">
            <a:avLst/>
          </a:prstGeom>
          <a:noFill/>
          <a:ln/>
        </p:spPr>
        <p:txBody>
          <a:bodyPr wrap="square" rtlCol="0"/>
          <a:lstStyle/>
          <a:p>
            <a:pPr algn="l" indent="0" marL="0">
              <a:buNone/>
            </a:pPr>
            <a:r>
              <a:rPr lang="en-US" sz="2000" dirty="0">
                <a:solidFill>
                  <a:schemeClr val="bg2"/>
                </a:solidFill>
              </a:rPr>
              <a:t>Ce qu’on utilise et à quoi ça sert</a:t>
            </a:r>
            <a:endParaRPr lang="en-US" sz="2000" dirty="0"/>
          </a:p>
        </p:txBody>
      </p:sp>
      <p:pic>
        <p:nvPicPr>
          <p:cNvPr id="4" name="Image 0" descr="preencoded.png">    </p:cNvPr>
          <p:cNvPicPr>
            <a:picLocks noChangeAspect="1"/>
          </p:cNvPicPr>
          <p:nvPr/>
        </p:nvPicPr>
        <p:blipFill>
          <a:blip r:embed="rId1"/>
          <a:stretch>
            <a:fillRect/>
          </a:stretch>
        </p:blipFill>
        <p:spPr>
          <a:xfrm>
            <a:off x="9326880" y="2194560"/>
            <a:ext cx="2011680" cy="2011680"/>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Architecture : trois briques</a:t>
            </a:r>
            <a:endParaRPr lang="en-US" sz="3600" dirty="0"/>
          </a:p>
        </p:txBody>
      </p:sp>
      <p:sp>
        <p:nvSpPr>
          <p:cNvPr id="3" name="brique0"/>
          <p:cNvSpPr/>
          <p:nvPr/>
        </p:nvSpPr>
        <p:spPr>
          <a:xfrm>
            <a:off x="548640" y="1554480"/>
            <a:ext cx="3291840" cy="3017520"/>
          </a:xfrm>
          <a:prstGeom prst="roundRect">
            <a:avLst>
              <a:gd name="adj" fmla="val 5455"/>
            </a:avLst>
          </a:prstGeom>
          <a:solidFill>
            <a:schemeClr val="bg2"/>
          </a:solidFill>
          <a:ln/>
          <a:effectLst>
            <a:outerShdw sx="100000" sy="100000" kx="0" ky="0" algn="bl" rotWithShape="0" blurRad="101600" dist="25400" dir="5400000">
              <a:srgbClr val="1E1428">
                <a:alpha val="12000"/>
              </a:srgbClr>
            </a:outerShdw>
          </a:effectLst>
        </p:spPr>
      </p:sp>
      <p:sp>
        <p:nvSpPr>
          <p:cNvPr id="4" name="Shape 2"/>
          <p:cNvSpPr/>
          <p:nvPr/>
        </p:nvSpPr>
        <p:spPr>
          <a:xfrm>
            <a:off x="1783080" y="1783080"/>
            <a:ext cx="822960" cy="8229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988820" y="1988820"/>
            <a:ext cx="411480" cy="411480"/>
          </a:xfrm>
          <a:prstGeom prst="rect">
            <a:avLst/>
          </a:prstGeom>
        </p:spPr>
      </p:pic>
      <p:sp>
        <p:nvSpPr>
          <p:cNvPr id="6" name="Text 3"/>
          <p:cNvSpPr txBox="1"/>
          <p:nvPr/>
        </p:nvSpPr>
        <p:spPr>
          <a:xfrm>
            <a:off x="777240" y="2743200"/>
            <a:ext cx="2834640" cy="457200"/>
          </a:xfrm>
          <a:prstGeom prst="rect">
            <a:avLst/>
          </a:prstGeom>
          <a:noFill/>
          <a:ln/>
        </p:spPr>
        <p:txBody>
          <a:bodyPr wrap="square" lIns="0" tIns="0" rIns="0" bIns="0" rtlCol="0" anchor="ctr"/>
          <a:lstStyle/>
          <a:p>
            <a:pPr algn="ctr" indent="0" marL="0">
              <a:buNone/>
            </a:pPr>
            <a:r>
              <a:rPr lang="en-US" sz="1800" b="1" dirty="0">
                <a:solidFill>
                  <a:schemeClr val="tx1"/>
                </a:solidFill>
              </a:rPr>
              <a:t>Application Flutter</a:t>
            </a:r>
            <a:endParaRPr lang="en-US" sz="1800" dirty="0"/>
          </a:p>
        </p:txBody>
      </p:sp>
      <p:sp>
        <p:nvSpPr>
          <p:cNvPr id="7" name="Text 4"/>
          <p:cNvSpPr txBox="1"/>
          <p:nvPr/>
        </p:nvSpPr>
        <p:spPr>
          <a:xfrm>
            <a:off x="777240" y="3246120"/>
            <a:ext cx="2834640" cy="1188720"/>
          </a:xfrm>
          <a:prstGeom prst="rect">
            <a:avLst/>
          </a:prstGeom>
          <a:noFill/>
          <a:ln/>
        </p:spPr>
        <p:txBody>
          <a:bodyPr wrap="square" lIns="0" tIns="0" rIns="0" bIns="0" rtlCol="0" anchor="t"/>
          <a:lstStyle/>
          <a:p>
            <a:pPr algn="ctr" indent="0" marL="0">
              <a:buNone/>
            </a:pPr>
            <a:r>
              <a:rPr lang="en-US" sz="1400" dirty="0">
                <a:solidFill>
                  <a:schemeClr val="accent6"/>
                </a:solidFill>
              </a:rPr>
              <a:t>Ce que l’utilisateur voit et touche, sur le téléphone ou l’émulateur Android</a:t>
            </a:r>
            <a:endParaRPr lang="en-US" sz="1400" dirty="0"/>
          </a:p>
        </p:txBody>
      </p:sp>
      <p:sp>
        <p:nvSpPr>
          <p:cNvPr id="8" name="Shape 5"/>
          <p:cNvSpPr/>
          <p:nvPr/>
        </p:nvSpPr>
        <p:spPr>
          <a:xfrm>
            <a:off x="3931920" y="2788920"/>
            <a:ext cx="411480" cy="457200"/>
          </a:xfrm>
          <a:prstGeom prst="rightArrow">
            <a:avLst/>
          </a:prstGeom>
          <a:solidFill>
            <a:schemeClr val="accent2"/>
          </a:solidFill>
          <a:ln/>
        </p:spPr>
      </p:sp>
      <p:sp>
        <p:nvSpPr>
          <p:cNvPr id="9" name="brique1"/>
          <p:cNvSpPr/>
          <p:nvPr/>
        </p:nvSpPr>
        <p:spPr>
          <a:xfrm>
            <a:off x="4434840" y="1554480"/>
            <a:ext cx="3291840" cy="3017520"/>
          </a:xfrm>
          <a:prstGeom prst="roundRect">
            <a:avLst>
              <a:gd name="adj" fmla="val 5455"/>
            </a:avLst>
          </a:prstGeom>
          <a:solidFill>
            <a:schemeClr val="bg2"/>
          </a:solidFill>
          <a:ln/>
          <a:effectLst>
            <a:outerShdw sx="100000" sy="100000" kx="0" ky="0" algn="bl" rotWithShape="0" blurRad="101600" dist="25400" dir="5400000">
              <a:srgbClr val="1E1428">
                <a:alpha val="12000"/>
              </a:srgbClr>
            </a:outerShdw>
          </a:effectLst>
        </p:spPr>
      </p:sp>
      <p:sp>
        <p:nvSpPr>
          <p:cNvPr id="10" name="Shape 7"/>
          <p:cNvSpPr/>
          <p:nvPr/>
        </p:nvSpPr>
        <p:spPr>
          <a:xfrm>
            <a:off x="5669280" y="1783080"/>
            <a:ext cx="822960" cy="82296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5875020" y="1988820"/>
            <a:ext cx="411480" cy="411480"/>
          </a:xfrm>
          <a:prstGeom prst="rect">
            <a:avLst/>
          </a:prstGeom>
        </p:spPr>
      </p:pic>
      <p:sp>
        <p:nvSpPr>
          <p:cNvPr id="12" name="Text 8"/>
          <p:cNvSpPr txBox="1"/>
          <p:nvPr/>
        </p:nvSpPr>
        <p:spPr>
          <a:xfrm>
            <a:off x="4663440" y="2743200"/>
            <a:ext cx="2834640" cy="457200"/>
          </a:xfrm>
          <a:prstGeom prst="rect">
            <a:avLst/>
          </a:prstGeom>
          <a:noFill/>
          <a:ln/>
        </p:spPr>
        <p:txBody>
          <a:bodyPr wrap="square" lIns="0" tIns="0" rIns="0" bIns="0" rtlCol="0" anchor="ctr"/>
          <a:lstStyle/>
          <a:p>
            <a:pPr algn="ctr" indent="0" marL="0">
              <a:buNone/>
            </a:pPr>
            <a:r>
              <a:rPr lang="en-US" sz="1800" b="1" dirty="0">
                <a:solidFill>
                  <a:schemeClr val="tx1"/>
                </a:solidFill>
              </a:rPr>
              <a:t>Serveur API Node.js</a:t>
            </a:r>
            <a:endParaRPr lang="en-US" sz="1800" dirty="0"/>
          </a:p>
        </p:txBody>
      </p:sp>
      <p:sp>
        <p:nvSpPr>
          <p:cNvPr id="13" name="Text 9"/>
          <p:cNvSpPr txBox="1"/>
          <p:nvPr/>
        </p:nvSpPr>
        <p:spPr>
          <a:xfrm>
            <a:off x="4663440" y="3246120"/>
            <a:ext cx="2834640" cy="1188720"/>
          </a:xfrm>
          <a:prstGeom prst="rect">
            <a:avLst/>
          </a:prstGeom>
          <a:noFill/>
          <a:ln/>
        </p:spPr>
        <p:txBody>
          <a:bodyPr wrap="square" lIns="0" tIns="0" rIns="0" bIns="0" rtlCol="0" anchor="t"/>
          <a:lstStyle/>
          <a:p>
            <a:pPr algn="ctr" indent="0" marL="0">
              <a:buNone/>
            </a:pPr>
            <a:r>
              <a:rPr lang="en-US" sz="1400" dirty="0">
                <a:solidFill>
                  <a:schemeClr val="accent6"/>
                </a:solidFill>
              </a:rPr>
              <a:t>Vérifie qui est connecté, reçoit les photos, envoie les rappels quotidiens</a:t>
            </a:r>
            <a:endParaRPr lang="en-US" sz="1400" dirty="0"/>
          </a:p>
        </p:txBody>
      </p:sp>
      <p:sp>
        <p:nvSpPr>
          <p:cNvPr id="14" name="Shape 10"/>
          <p:cNvSpPr/>
          <p:nvPr/>
        </p:nvSpPr>
        <p:spPr>
          <a:xfrm>
            <a:off x="7818120" y="2788920"/>
            <a:ext cx="411480" cy="457200"/>
          </a:xfrm>
          <a:prstGeom prst="rightArrow">
            <a:avLst/>
          </a:prstGeom>
          <a:solidFill>
            <a:schemeClr val="accent2"/>
          </a:solidFill>
          <a:ln/>
        </p:spPr>
      </p:sp>
      <p:sp>
        <p:nvSpPr>
          <p:cNvPr id="15" name="brique2"/>
          <p:cNvSpPr/>
          <p:nvPr/>
        </p:nvSpPr>
        <p:spPr>
          <a:xfrm>
            <a:off x="8321040" y="1554480"/>
            <a:ext cx="3291840" cy="3017520"/>
          </a:xfrm>
          <a:prstGeom prst="roundRect">
            <a:avLst>
              <a:gd name="adj" fmla="val 5455"/>
            </a:avLst>
          </a:prstGeom>
          <a:solidFill>
            <a:schemeClr val="bg2"/>
          </a:solidFill>
          <a:ln/>
          <a:effectLst>
            <a:outerShdw sx="100000" sy="100000" kx="0" ky="0" algn="bl" rotWithShape="0" blurRad="101600" dist="25400" dir="5400000">
              <a:srgbClr val="1E1428">
                <a:alpha val="12000"/>
              </a:srgbClr>
            </a:outerShdw>
          </a:effectLst>
        </p:spPr>
      </p:sp>
      <p:sp>
        <p:nvSpPr>
          <p:cNvPr id="16" name="Shape 12"/>
          <p:cNvSpPr/>
          <p:nvPr/>
        </p:nvSpPr>
        <p:spPr>
          <a:xfrm>
            <a:off x="9555480" y="1783080"/>
            <a:ext cx="822960" cy="822960"/>
          </a:xfrm>
          <a:prstGeom prst="ellipse">
            <a:avLst/>
          </a:prstGeom>
          <a:solidFill>
            <a:schemeClr val="accent3"/>
          </a:solidFill>
          <a:ln/>
        </p:spPr>
      </p:sp>
      <p:pic>
        <p:nvPicPr>
          <p:cNvPr id="17" name="Image 2" descr="preencoded.png">    </p:cNvPr>
          <p:cNvPicPr>
            <a:picLocks noChangeAspect="1"/>
          </p:cNvPicPr>
          <p:nvPr/>
        </p:nvPicPr>
        <p:blipFill>
          <a:blip r:embed="rId3"/>
          <a:stretch>
            <a:fillRect/>
          </a:stretch>
        </p:blipFill>
        <p:spPr>
          <a:xfrm>
            <a:off x="9761220" y="1988820"/>
            <a:ext cx="411480" cy="411480"/>
          </a:xfrm>
          <a:prstGeom prst="rect">
            <a:avLst/>
          </a:prstGeom>
        </p:spPr>
      </p:pic>
      <p:sp>
        <p:nvSpPr>
          <p:cNvPr id="18" name="Text 13"/>
          <p:cNvSpPr txBox="1"/>
          <p:nvPr/>
        </p:nvSpPr>
        <p:spPr>
          <a:xfrm>
            <a:off x="8549640" y="2743200"/>
            <a:ext cx="2834640" cy="457200"/>
          </a:xfrm>
          <a:prstGeom prst="rect">
            <a:avLst/>
          </a:prstGeom>
          <a:noFill/>
          <a:ln/>
        </p:spPr>
        <p:txBody>
          <a:bodyPr wrap="square" lIns="0" tIns="0" rIns="0" bIns="0" rtlCol="0" anchor="ctr"/>
          <a:lstStyle/>
          <a:p>
            <a:pPr algn="ctr" indent="0" marL="0">
              <a:buNone/>
            </a:pPr>
            <a:r>
              <a:rPr lang="en-US" sz="1800" b="1" dirty="0">
                <a:solidFill>
                  <a:schemeClr val="tx1"/>
                </a:solidFill>
              </a:rPr>
              <a:t>Base PostgreSQL</a:t>
            </a:r>
            <a:endParaRPr lang="en-US" sz="1800" dirty="0"/>
          </a:p>
        </p:txBody>
      </p:sp>
      <p:sp>
        <p:nvSpPr>
          <p:cNvPr id="19" name="Text 14"/>
          <p:cNvSpPr txBox="1"/>
          <p:nvPr/>
        </p:nvSpPr>
        <p:spPr>
          <a:xfrm>
            <a:off x="8549640" y="3246120"/>
            <a:ext cx="2834640" cy="1188720"/>
          </a:xfrm>
          <a:prstGeom prst="rect">
            <a:avLst/>
          </a:prstGeom>
          <a:noFill/>
          <a:ln/>
        </p:spPr>
        <p:txBody>
          <a:bodyPr wrap="square" lIns="0" tIns="0" rIns="0" bIns="0" rtlCol="0" anchor="t"/>
          <a:lstStyle/>
          <a:p>
            <a:pPr algn="ctr" indent="0" marL="0">
              <a:buNone/>
            </a:pPr>
            <a:r>
              <a:rPr lang="en-US" sz="1400" dirty="0">
                <a:solidFill>
                  <a:schemeClr val="accent6"/>
                </a:solidFill>
              </a:rPr>
              <a:t>Stocke les données et applique les règles de sécurité (anonymat, accès)</a:t>
            </a:r>
            <a:endParaRPr lang="en-US" sz="1400" dirty="0"/>
          </a:p>
        </p:txBody>
      </p:sp>
      <p:sp>
        <p:nvSpPr>
          <p:cNvPr id="20" name="Text 15"/>
          <p:cNvSpPr txBox="1"/>
          <p:nvPr/>
        </p:nvSpPr>
        <p:spPr>
          <a:xfrm>
            <a:off x="3291840" y="4709160"/>
            <a:ext cx="2286000" cy="365760"/>
          </a:xfrm>
          <a:prstGeom prst="rect">
            <a:avLst/>
          </a:prstGeom>
          <a:noFill/>
          <a:ln/>
        </p:spPr>
        <p:txBody>
          <a:bodyPr wrap="square" lIns="0" tIns="0" rIns="0" bIns="0" rtlCol="0" anchor="ctr"/>
          <a:lstStyle/>
          <a:p>
            <a:pPr algn="ctr" indent="0" marL="0">
              <a:buNone/>
            </a:pPr>
            <a:r>
              <a:rPr lang="en-US" sz="1200" dirty="0">
                <a:solidFill>
                  <a:schemeClr val="accent6"/>
                </a:solidFill>
              </a:rPr>
              <a:t>HTTP + JSON · jeton JWT</a:t>
            </a:r>
            <a:endParaRPr lang="en-US" sz="1200" dirty="0"/>
          </a:p>
        </p:txBody>
      </p:sp>
      <p:sp>
        <p:nvSpPr>
          <p:cNvPr id="21" name="Text 16"/>
          <p:cNvSpPr txBox="1"/>
          <p:nvPr/>
        </p:nvSpPr>
        <p:spPr>
          <a:xfrm>
            <a:off x="7178040" y="4709160"/>
            <a:ext cx="2286000" cy="365760"/>
          </a:xfrm>
          <a:prstGeom prst="rect">
            <a:avLst/>
          </a:prstGeom>
          <a:noFill/>
          <a:ln/>
        </p:spPr>
        <p:txBody>
          <a:bodyPr wrap="square" lIns="0" tIns="0" rIns="0" bIns="0" rtlCol="0" anchor="ctr"/>
          <a:lstStyle/>
          <a:p>
            <a:pPr algn="ctr" indent="0" marL="0">
              <a:buNone/>
            </a:pPr>
            <a:r>
              <a:rPr lang="en-US" sz="1200" dirty="0">
                <a:solidFill>
                  <a:schemeClr val="accent6"/>
                </a:solidFill>
              </a:rPr>
              <a:t>SQL au nom de l’utilisateur</a:t>
            </a:r>
            <a:endParaRPr lang="en-US" sz="1200" dirty="0"/>
          </a:p>
        </p:txBody>
      </p:sp>
      <p:sp>
        <p:nvSpPr>
          <p:cNvPr id="22" name="Shape 17"/>
          <p:cNvSpPr/>
          <p:nvPr/>
        </p:nvSpPr>
        <p:spPr>
          <a:xfrm>
            <a:off x="548640" y="5212080"/>
            <a:ext cx="11064240" cy="822960"/>
          </a:xfrm>
          <a:prstGeom prst="roundRect">
            <a:avLst>
              <a:gd name="adj" fmla="val 16667"/>
            </a:avLst>
          </a:prstGeom>
          <a:solidFill>
            <a:schemeClr val="tx1"/>
          </a:solidFill>
          <a:ln/>
        </p:spPr>
      </p:sp>
      <p:sp>
        <p:nvSpPr>
          <p:cNvPr id="23" name="Text 18"/>
          <p:cNvSpPr txBox="1"/>
          <p:nvPr/>
        </p:nvSpPr>
        <p:spPr>
          <a:xfrm>
            <a:off x="868680" y="5212080"/>
            <a:ext cx="10424160" cy="822960"/>
          </a:xfrm>
          <a:prstGeom prst="rect">
            <a:avLst/>
          </a:prstGeom>
          <a:noFill/>
          <a:ln/>
        </p:spPr>
        <p:txBody>
          <a:bodyPr wrap="square" lIns="0" tIns="0" rIns="0" bIns="0" rtlCol="0" anchor="ctr"/>
          <a:lstStyle/>
          <a:p>
            <a:pPr indent="0" marL="0">
              <a:buNone/>
            </a:pPr>
            <a:r>
              <a:rPr lang="en-US" sz="1500" dirty="0">
                <a:solidFill>
                  <a:srgbClr val="FFFFFF"/>
                </a:solidFill>
              </a:rPr>
              <a:t>Pourquoi un serveur au milieu ? Le mot de passe de la base ne doit jamais se trouver dans une application installée sur des téléphones.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Chaque technologie et son rôle</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2103120"/>
                <a:gridCol w="6309360"/>
              </a:tblGrid>
              <a:tr h="512064">
                <a:tc>
                  <a:txBody>
                    <a:bodyPr/>
                    <a:lstStyle/>
                    <a:p>
                      <a:pPr indent="0" marL="0">
                        <a:buNone/>
                      </a:pPr>
                      <a:r>
                        <a:rPr lang="en-US" sz="1400" b="1" dirty="0">
                          <a:solidFill>
                            <a:srgbClr val="FFFFFF"/>
                          </a:solidFill>
                        </a:rPr>
                        <a:t>Technologie</a:t>
                      </a:r>
                      <a:endParaRPr lang="en-US" sz="14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1E1428"/>
                    </a:solidFill>
                  </a:tcPr>
                </a:tc>
                <a:tc>
                  <a:txBody>
                    <a:bodyPr/>
                    <a:lstStyle/>
                    <a:p>
                      <a:pPr indent="0" marL="0">
                        <a:buNone/>
                      </a:pPr>
                      <a:r>
                        <a:rPr lang="en-US" sz="1400" b="1" dirty="0">
                          <a:solidFill>
                            <a:srgbClr val="FFFFFF"/>
                          </a:solidFill>
                        </a:rPr>
                        <a:t>Catégorie</a:t>
                      </a:r>
                      <a:endParaRPr lang="en-US" sz="14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1E1428"/>
                    </a:solidFill>
                  </a:tcPr>
                </a:tc>
                <a:tc>
                  <a:txBody>
                    <a:bodyPr/>
                    <a:lstStyle/>
                    <a:p>
                      <a:pPr indent="0" marL="0">
                        <a:buNone/>
                      </a:pPr>
                      <a:r>
                        <a:rPr lang="en-US" sz="1400" b="1" dirty="0">
                          <a:solidFill>
                            <a:srgbClr val="FFFFFF"/>
                          </a:solidFill>
                        </a:rPr>
                        <a:t>À quoi ça sert</a:t>
                      </a:r>
                      <a:endParaRPr lang="en-US" sz="14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1E1428"/>
                    </a:solidFill>
                  </a:tcPr>
                </a:tc>
              </a:tr>
              <a:tr h="512064">
                <a:tc>
                  <a:txBody>
                    <a:bodyPr/>
                    <a:lstStyle/>
                    <a:p>
                      <a:pPr indent="0" marL="0">
                        <a:buNone/>
                      </a:pPr>
                      <a:r>
                        <a:rPr lang="en-US" sz="1300" b="1" dirty="0">
                          <a:solidFill>
                            <a:srgbClr val="1E1428"/>
                          </a:solidFill>
                        </a:rPr>
                        <a:t>Flutter + Dart</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Application mobile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Un seul code pour Android (et iOS) ; écrans, animations (gâteau, papier cadeau, enveloppe)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r>
              <a:tr h="512064">
                <a:tc>
                  <a:txBody>
                    <a:bodyPr/>
                    <a:lstStyle/>
                    <a:p>
                      <a:pPr indent="0" marL="0">
                        <a:buNone/>
                      </a:pPr>
                      <a:r>
                        <a:rPr lang="en-US" sz="1300" b="1" dirty="0">
                          <a:solidFill>
                            <a:srgbClr val="1E1428"/>
                          </a:solidFill>
                        </a:rPr>
                        <a:t>Android Studio · émulateur</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Test sur ordinateur</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Simule un téléphone Android pour lancer et montrer l’application</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E1428"/>
                          </a:solidFill>
                        </a:rPr>
                        <a:t>VS Code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Éditeur de code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Écrire le code, lancer l’app (F5) et le serveur dans le même outil</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r>
              <a:tr h="512064">
                <a:tc>
                  <a:txBody>
                    <a:bodyPr/>
                    <a:lstStyle/>
                    <a:p>
                      <a:pPr indent="0" marL="0">
                        <a:buNone/>
                      </a:pPr>
                      <a:r>
                        <a:rPr lang="en-US" sz="1300" b="1" dirty="0">
                          <a:solidFill>
                            <a:srgbClr val="1E1428"/>
                          </a:solidFill>
                        </a:rPr>
                        <a:t>Node.js + Express</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Serveur API</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Reçoit les demandes de l’app et les transmet à la base de façon sécurisée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E1428"/>
                          </a:solidFill>
                        </a:rPr>
                        <a:t>PostgreSQL</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Base de données</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Tables, fonctions SQL, déclencheurs et règles RLS (anonymat, publication)</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r>
              <a:tr h="512064">
                <a:tc>
                  <a:txBody>
                    <a:bodyPr/>
                    <a:lstStyle/>
                    <a:p>
                      <a:pPr indent="0" marL="0">
                        <a:buNone/>
                      </a:pPr>
                      <a:r>
                        <a:rPr lang="en-US" sz="1300" b="1" dirty="0">
                          <a:solidFill>
                            <a:srgbClr val="1E1428"/>
                          </a:solidFill>
                        </a:rPr>
                        <a:t>bcrypt + JWT</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Comptes et connexion</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Mot de passe haché (illisible) ; jeton de connexion valable 30 jours</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E1428"/>
                          </a:solidFill>
                        </a:rPr>
                        <a:t>Paquets Flutter</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Fonctions du téléphone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c>
                  <a:txBody>
                    <a:bodyPr/>
                    <a:lstStyle/>
                    <a:p>
                      <a:pPr indent="0" marL="0">
                        <a:buNone/>
                      </a:pPr>
                      <a:r>
                        <a:rPr lang="en-US" sz="1300" dirty="0">
                          <a:solidFill>
                            <a:srgbClr val="1E1428"/>
                          </a:solidFill>
                        </a:rPr>
                        <a:t>http (API), shared_preferences (session), image_picker (photos), url_launcher (WhatsApp), share_plus (partage), google_fonts, intl (dates, FCFA)</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6E7EA"/>
                    </a:solidFill>
                  </a:tcPr>
                </a:tc>
              </a:tr>
              <a:tr h="512064">
                <a:tc>
                  <a:txBody>
                    <a:bodyPr/>
                    <a:lstStyle/>
                    <a:p>
                      <a:pPr indent="0" marL="0">
                        <a:buNone/>
                      </a:pPr>
                      <a:r>
                        <a:rPr lang="en-US" sz="1300" b="1" dirty="0">
                          <a:solidFill>
                            <a:srgbClr val="1E1428"/>
                          </a:solidFill>
                        </a:rPr>
                        <a:t>node-cron</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Tâche quotidienne</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c>
                  <a:txBody>
                    <a:bodyPr/>
                    <a:lstStyle/>
                    <a:p>
                      <a:pPr indent="0" marL="0">
                        <a:buNone/>
                      </a:pPr>
                      <a:r>
                        <a:rPr lang="en-US" sz="1300" dirty="0">
                          <a:solidFill>
                            <a:srgbClr val="1E1428"/>
                          </a:solidFill>
                        </a:rPr>
                        <a:t>Chaque matin à 7 h : rappels J-7, J-1, jour J, révélation, fin d’accès</a:t>
                      </a:r>
                      <a:endParaRPr lang="en-US" sz="1300" dirty="0"/>
                    </a:p>
                  </a:txBody>
                  <a:tcPr marL="73152" marR="73152" marT="73152" marB="73152" anchor="ctr">
                    <a:lnL w="6350" cap="flat" cmpd="sng" algn="ctr">
                      <a:solidFill>
                        <a:srgbClr val="E9DDE1"/>
                      </a:solidFill>
                      <a:prstDash val="solid"/>
                      <a:round/>
                      <a:headEnd type="none" w="med" len="med"/>
                      <a:tailEnd type="none" w="med" len="med"/>
                    </a:lnL>
                    <a:lnR w="6350" cap="flat" cmpd="sng" algn="ctr">
                      <a:solidFill>
                        <a:srgbClr val="E9DDE1"/>
                      </a:solidFill>
                      <a:prstDash val="solid"/>
                      <a:round/>
                      <a:headEnd type="none" w="med" len="med"/>
                      <a:tailEnd type="none" w="med" len="med"/>
                    </a:lnR>
                    <a:lnT w="6350" cap="flat" cmpd="sng" algn="ctr">
                      <a:solidFill>
                        <a:srgbClr val="E9DDE1"/>
                      </a:solidFill>
                      <a:prstDash val="solid"/>
                      <a:round/>
                      <a:headEnd type="none" w="med" len="med"/>
                      <a:tailEnd type="none" w="med" len="med"/>
                    </a:lnT>
                    <a:lnB w="6350" cap="flat" cmpd="sng" algn="ctr">
                      <a:solidFill>
                        <a:srgbClr val="E9DD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La sécurité est dans la base de données</a:t>
            </a:r>
            <a:endParaRPr lang="en-US" sz="3600" dirty="0"/>
          </a:p>
        </p:txBody>
      </p:sp>
      <p:sp>
        <p:nvSpPr>
          <p:cNvPr id="3" name="Shape 1"/>
          <p:cNvSpPr/>
          <p:nvPr/>
        </p:nvSpPr>
        <p:spPr>
          <a:xfrm>
            <a:off x="548640" y="1463040"/>
            <a:ext cx="5669280" cy="4480560"/>
          </a:xfrm>
          <a:prstGeom prst="roundRect">
            <a:avLst>
              <a:gd name="adj" fmla="val 3673"/>
            </a:avLst>
          </a:prstGeom>
          <a:solidFill>
            <a:schemeClr val="tx1"/>
          </a:solidFill>
          <a:ln/>
          <a:effectLst>
            <a:outerShdw sx="100000" sy="100000" kx="0" ky="0" algn="bl" rotWithShape="0" blurRad="101600" dist="25400" dir="5400000">
              <a:srgbClr val="1E1428">
                <a:alpha val="12000"/>
              </a:srgbClr>
            </a:outerShdw>
          </a:effectLst>
        </p:spPr>
      </p:sp>
      <p:sp>
        <p:nvSpPr>
          <p:cNvPr id="4" name="Text 2"/>
          <p:cNvSpPr txBox="1"/>
          <p:nvPr/>
        </p:nvSpPr>
        <p:spPr>
          <a:xfrm>
            <a:off x="868680" y="1691640"/>
            <a:ext cx="5029200" cy="731520"/>
          </a:xfrm>
          <a:prstGeom prst="rect">
            <a:avLst/>
          </a:prstGeom>
          <a:noFill/>
          <a:ln/>
        </p:spPr>
        <p:txBody>
          <a:bodyPr wrap="square" lIns="0" tIns="0" rIns="0" bIns="0" rtlCol="0" anchor="ctr"/>
          <a:lstStyle/>
          <a:p>
            <a:pPr indent="0" marL="0">
              <a:buNone/>
            </a:pPr>
            <a:r>
              <a:rPr lang="en-US" sz="1600" b="1" dirty="0">
                <a:solidFill>
                  <a:schemeClr val="accent2"/>
                </a:solidFill>
              </a:rPr>
              <a:t>À chaque requête, le serveur dit à PostgreSQL qui la fait</a:t>
            </a:r>
            <a:endParaRPr lang="en-US" sz="1600" dirty="0"/>
          </a:p>
        </p:txBody>
      </p:sp>
      <p:sp>
        <p:nvSpPr>
          <p:cNvPr id="5" name="Text 3"/>
          <p:cNvSpPr txBox="1"/>
          <p:nvPr/>
        </p:nvSpPr>
        <p:spPr>
          <a:xfrm>
            <a:off x="868680" y="2514600"/>
            <a:ext cx="5029200" cy="2377440"/>
          </a:xfrm>
          <a:prstGeom prst="rect">
            <a:avLst/>
          </a:prstGeom>
          <a:noFill/>
          <a:ln/>
        </p:spPr>
        <p:txBody>
          <a:bodyPr wrap="square" lIns="0" tIns="0" rIns="0" bIns="0" rtlCol="0" anchor="t"/>
          <a:lstStyle/>
          <a:p>
            <a:pPr indent="0" marL="0">
              <a:buNone/>
            </a:pPr>
            <a:r>
              <a:rPr lang="en-US" sz="1500" dirty="0">
                <a:solidFill>
                  <a:srgbClr val="FFFFFF"/>
                </a:solidFill>
                <a:latin typeface="Courier New" pitchFamily="34" charset="0"/>
                <a:ea typeface="Courier New" pitchFamily="34" charset="-122"/>
                <a:cs typeface="Courier New" pitchFamily="34" charset="-120"/>
              </a:rPr>
              <a:t>BEGIN;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SET LOCAL ROLE authenticated;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SELECT set_config('app.user_id',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'&lt;id utilisateur&gt;', true);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requête de l’application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COMMIT;</a:t>
            </a:r>
            <a:endParaRPr lang="en-US" sz="1500" dirty="0"/>
          </a:p>
        </p:txBody>
      </p:sp>
      <p:sp>
        <p:nvSpPr>
          <p:cNvPr id="6" name="Text 4"/>
          <p:cNvSpPr txBox="1"/>
          <p:nvPr/>
        </p:nvSpPr>
        <p:spPr>
          <a:xfrm>
            <a:off x="868680" y="4937760"/>
            <a:ext cx="5029200" cy="822960"/>
          </a:xfrm>
          <a:prstGeom prst="rect">
            <a:avLst/>
          </a:prstGeom>
          <a:noFill/>
          <a:ln/>
        </p:spPr>
        <p:txBody>
          <a:bodyPr wrap="square" lIns="0" tIns="0" rIns="0" bIns="0" rtlCol="0" anchor="ctr"/>
          <a:lstStyle/>
          <a:p>
            <a:pPr indent="0" marL="0">
              <a:buNone/>
            </a:pPr>
            <a:r>
              <a:rPr lang="en-US" sz="1400" dirty="0">
                <a:solidFill>
                  <a:schemeClr val="bg2"/>
                </a:solidFill>
              </a:rPr>
              <a:t>Les règles RLS (Row Level Security) filtrent alors chaque ligne selon l’utilisateur.</a:t>
            </a:r>
            <a:endParaRPr lang="en-US" sz="1400" dirty="0"/>
          </a:p>
        </p:txBody>
      </p:sp>
      <p:sp>
        <p:nvSpPr>
          <p:cNvPr id="7" name="Shape 5"/>
          <p:cNvSpPr/>
          <p:nvPr/>
        </p:nvSpPr>
        <p:spPr>
          <a:xfrm>
            <a:off x="6675120" y="1554480"/>
            <a:ext cx="685800" cy="685800"/>
          </a:xfrm>
          <a:prstGeom prst="ellipse">
            <a:avLst/>
          </a:prstGeom>
          <a:solidFill>
            <a:schemeClr val="bg2"/>
          </a:solidFill>
          <a:ln/>
        </p:spPr>
      </p:sp>
      <p:pic>
        <p:nvPicPr>
          <p:cNvPr id="8" name="Image 0" descr="preencoded.png">    </p:cNvPr>
          <p:cNvPicPr>
            <a:picLocks noChangeAspect="1"/>
          </p:cNvPicPr>
          <p:nvPr/>
        </p:nvPicPr>
        <p:blipFill>
          <a:blip r:embed="rId1"/>
          <a:stretch>
            <a:fillRect/>
          </a:stretch>
        </p:blipFill>
        <p:spPr>
          <a:xfrm>
            <a:off x="6846570" y="1725930"/>
            <a:ext cx="342900" cy="342900"/>
          </a:xfrm>
          <a:prstGeom prst="rect">
            <a:avLst/>
          </a:prstGeom>
        </p:spPr>
      </p:pic>
      <p:sp>
        <p:nvSpPr>
          <p:cNvPr id="9" name="Text 6"/>
          <p:cNvSpPr txBox="1"/>
          <p:nvPr/>
        </p:nvSpPr>
        <p:spPr>
          <a:xfrm>
            <a:off x="7589520" y="1554480"/>
            <a:ext cx="4023360" cy="685800"/>
          </a:xfrm>
          <a:prstGeom prst="rect">
            <a:avLst/>
          </a:prstGeom>
          <a:noFill/>
          <a:ln/>
        </p:spPr>
        <p:txBody>
          <a:bodyPr wrap="square" lIns="0" tIns="0" rIns="0" bIns="0" rtlCol="0" anchor="ctr"/>
          <a:lstStyle/>
          <a:p>
            <a:pPr indent="0" marL="0">
              <a:buNone/>
            </a:pPr>
            <a:r>
              <a:rPr lang="en-US" sz="1600" dirty="0">
                <a:solidFill>
                  <a:schemeClr val="tx1"/>
                </a:solidFill>
              </a:rPr>
              <a:t>Le célébrant ne peut jamais lire qui a réservé ses cadeaux</a:t>
            </a:r>
            <a:endParaRPr lang="en-US" sz="1600" dirty="0"/>
          </a:p>
        </p:txBody>
      </p:sp>
      <p:sp>
        <p:nvSpPr>
          <p:cNvPr id="10" name="Shape 7"/>
          <p:cNvSpPr/>
          <p:nvPr/>
        </p:nvSpPr>
        <p:spPr>
          <a:xfrm>
            <a:off x="6675120" y="2651760"/>
            <a:ext cx="685800" cy="685800"/>
          </a:xfrm>
          <a:prstGeom prst="ellipse">
            <a:avLst/>
          </a:prstGeom>
          <a:solidFill>
            <a:schemeClr val="bg2"/>
          </a:solidFill>
          <a:ln/>
        </p:spPr>
      </p:sp>
      <p:pic>
        <p:nvPicPr>
          <p:cNvPr id="11" name="Image 1" descr="preencoded.png">    </p:cNvPr>
          <p:cNvPicPr>
            <a:picLocks noChangeAspect="1"/>
          </p:cNvPicPr>
          <p:nvPr/>
        </p:nvPicPr>
        <p:blipFill>
          <a:blip r:embed="rId2"/>
          <a:stretch>
            <a:fillRect/>
          </a:stretch>
        </p:blipFill>
        <p:spPr>
          <a:xfrm>
            <a:off x="6846570" y="2823210"/>
            <a:ext cx="342900" cy="342900"/>
          </a:xfrm>
          <a:prstGeom prst="rect">
            <a:avLst/>
          </a:prstGeom>
        </p:spPr>
      </p:pic>
      <p:sp>
        <p:nvSpPr>
          <p:cNvPr id="12" name="Text 8"/>
          <p:cNvSpPr txBox="1"/>
          <p:nvPr/>
        </p:nvSpPr>
        <p:spPr>
          <a:xfrm>
            <a:off x="7589520" y="2651760"/>
            <a:ext cx="4023360" cy="685800"/>
          </a:xfrm>
          <a:prstGeom prst="rect">
            <a:avLst/>
          </a:prstGeom>
          <a:noFill/>
          <a:ln/>
        </p:spPr>
        <p:txBody>
          <a:bodyPr wrap="square" lIns="0" tIns="0" rIns="0" bIns="0" rtlCol="0" anchor="ctr"/>
          <a:lstStyle/>
          <a:p>
            <a:pPr indent="0" marL="0">
              <a:buNone/>
            </a:pPr>
            <a:r>
              <a:rPr lang="en-US" sz="1600" dirty="0">
                <a:solidFill>
                  <a:schemeClr val="tx1"/>
                </a:solidFill>
              </a:rPr>
              <a:t>Publication refusée tant que l’accès n’est pas payé et validé</a:t>
            </a:r>
            <a:endParaRPr lang="en-US" sz="1600" dirty="0"/>
          </a:p>
        </p:txBody>
      </p:sp>
      <p:sp>
        <p:nvSpPr>
          <p:cNvPr id="13" name="Shape 9"/>
          <p:cNvSpPr/>
          <p:nvPr/>
        </p:nvSpPr>
        <p:spPr>
          <a:xfrm>
            <a:off x="6675120" y="3749040"/>
            <a:ext cx="685800" cy="685800"/>
          </a:xfrm>
          <a:prstGeom prst="ellipse">
            <a:avLst/>
          </a:prstGeom>
          <a:solidFill>
            <a:schemeClr val="bg2"/>
          </a:solidFill>
          <a:ln/>
        </p:spPr>
      </p:sp>
      <p:pic>
        <p:nvPicPr>
          <p:cNvPr id="14" name="Image 2" descr="preencoded.png">    </p:cNvPr>
          <p:cNvPicPr>
            <a:picLocks noChangeAspect="1"/>
          </p:cNvPicPr>
          <p:nvPr/>
        </p:nvPicPr>
        <p:blipFill>
          <a:blip r:embed="rId3"/>
          <a:stretch>
            <a:fillRect/>
          </a:stretch>
        </p:blipFill>
        <p:spPr>
          <a:xfrm>
            <a:off x="6846570" y="3920490"/>
            <a:ext cx="342900" cy="342900"/>
          </a:xfrm>
          <a:prstGeom prst="rect">
            <a:avLst/>
          </a:prstGeom>
        </p:spPr>
      </p:pic>
      <p:sp>
        <p:nvSpPr>
          <p:cNvPr id="15" name="Text 10"/>
          <p:cNvSpPr txBox="1"/>
          <p:nvPr/>
        </p:nvSpPr>
        <p:spPr>
          <a:xfrm>
            <a:off x="7589520" y="3749040"/>
            <a:ext cx="4023360" cy="685800"/>
          </a:xfrm>
          <a:prstGeom prst="rect">
            <a:avLst/>
          </a:prstGeom>
          <a:noFill/>
          <a:ln/>
        </p:spPr>
        <p:txBody>
          <a:bodyPr wrap="square" lIns="0" tIns="0" rIns="0" bIns="0" rtlCol="0" anchor="ctr"/>
          <a:lstStyle/>
          <a:p>
            <a:pPr indent="0" marL="0">
              <a:buNone/>
            </a:pPr>
            <a:r>
              <a:rPr lang="en-US" sz="1600" dirty="0">
                <a:solidFill>
                  <a:schemeClr val="tx1"/>
                </a:solidFill>
              </a:rPr>
              <a:t>Impossible de se donner soi-même le rôle administrateur</a:t>
            </a:r>
            <a:endParaRPr lang="en-US" sz="1600" dirty="0"/>
          </a:p>
        </p:txBody>
      </p:sp>
      <p:sp>
        <p:nvSpPr>
          <p:cNvPr id="16" name="Shape 11"/>
          <p:cNvSpPr/>
          <p:nvPr/>
        </p:nvSpPr>
        <p:spPr>
          <a:xfrm>
            <a:off x="6675120" y="4846320"/>
            <a:ext cx="685800" cy="685800"/>
          </a:xfrm>
          <a:prstGeom prst="ellipse">
            <a:avLst/>
          </a:prstGeom>
          <a:solidFill>
            <a:schemeClr val="bg2"/>
          </a:solidFill>
          <a:ln/>
        </p:spPr>
      </p:sp>
      <p:pic>
        <p:nvPicPr>
          <p:cNvPr id="17" name="Image 3" descr="preencoded.png">    </p:cNvPr>
          <p:cNvPicPr>
            <a:picLocks noChangeAspect="1"/>
          </p:cNvPicPr>
          <p:nvPr/>
        </p:nvPicPr>
        <p:blipFill>
          <a:blip r:embed="rId4"/>
          <a:stretch>
            <a:fillRect/>
          </a:stretch>
        </p:blipFill>
        <p:spPr>
          <a:xfrm>
            <a:off x="6846570" y="5017770"/>
            <a:ext cx="342900" cy="342900"/>
          </a:xfrm>
          <a:prstGeom prst="rect">
            <a:avLst/>
          </a:prstGeom>
        </p:spPr>
      </p:pic>
      <p:sp>
        <p:nvSpPr>
          <p:cNvPr id="18" name="Text 12"/>
          <p:cNvSpPr txBox="1"/>
          <p:nvPr/>
        </p:nvSpPr>
        <p:spPr>
          <a:xfrm>
            <a:off x="7589520" y="4846320"/>
            <a:ext cx="4023360" cy="685800"/>
          </a:xfrm>
          <a:prstGeom prst="rect">
            <a:avLst/>
          </a:prstGeom>
          <a:noFill/>
          <a:ln/>
        </p:spPr>
        <p:txBody>
          <a:bodyPr wrap="square" lIns="0" tIns="0" rIns="0" bIns="0" rtlCol="0" anchor="ctr"/>
          <a:lstStyle/>
          <a:p>
            <a:pPr indent="0" marL="0">
              <a:buNone/>
            </a:pPr>
            <a:r>
              <a:rPr lang="en-US" sz="1600" dirty="0">
                <a:solidFill>
                  <a:schemeClr val="tx1"/>
                </a:solidFill>
              </a:rPr>
              <a:t>Le lien « liste seule » ne montre jamais les infos de la fête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8229600" cy="118872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Lancer l’application</a:t>
            </a:r>
            <a:endParaRPr lang="en-US" sz="4400" dirty="0"/>
          </a:p>
        </p:txBody>
      </p:sp>
      <p:sp>
        <p:nvSpPr>
          <p:cNvPr id="3" name="Text 0"/>
          <p:cNvSpPr/>
          <p:nvPr>
            <p:ph idx="101" type="body" hasCustomPrompt="1"/>
          </p:nvPr>
        </p:nvSpPr>
        <p:spPr>
          <a:xfrm>
            <a:off x="731520" y="3611880"/>
            <a:ext cx="8229600" cy="914400"/>
          </a:xfrm>
          <a:prstGeom prst="rect">
            <a:avLst/>
          </a:prstGeom>
          <a:noFill/>
          <a:ln/>
        </p:spPr>
        <p:txBody>
          <a:bodyPr wrap="square" rtlCol="0"/>
          <a:lstStyle/>
          <a:p>
            <a:pPr algn="l" indent="0" marL="0">
              <a:buNone/>
            </a:pPr>
            <a:r>
              <a:rPr lang="en-US" sz="2000" dirty="0">
                <a:solidFill>
                  <a:schemeClr val="bg2"/>
                </a:solidFill>
              </a:rPr>
              <a:t>Les commandes, et ce que fait chacune</a:t>
            </a:r>
            <a:endParaRPr lang="en-US" sz="2000" dirty="0"/>
          </a:p>
        </p:txBody>
      </p:sp>
      <p:pic>
        <p:nvPicPr>
          <p:cNvPr id="4" name="Image 0" descr="preencoded.png">    </p:cNvPr>
          <p:cNvPicPr>
            <a:picLocks noChangeAspect="1"/>
          </p:cNvPicPr>
          <p:nvPr/>
        </p:nvPicPr>
        <p:blipFill>
          <a:blip r:embed="rId1"/>
          <a:stretch>
            <a:fillRect/>
          </a:stretch>
        </p:blipFill>
        <p:spPr>
          <a:xfrm>
            <a:off x="9326880" y="2194560"/>
            <a:ext cx="2011680" cy="2011680"/>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Une seule fois : installer le serveur et la base</a:t>
            </a:r>
            <a:endParaRPr lang="en-US" sz="3600" dirty="0"/>
          </a:p>
        </p:txBody>
      </p:sp>
      <p:sp>
        <p:nvSpPr>
          <p:cNvPr id="3" name="Shape 1"/>
          <p:cNvSpPr/>
          <p:nvPr/>
        </p:nvSpPr>
        <p:spPr>
          <a:xfrm>
            <a:off x="548640" y="1444752"/>
            <a:ext cx="5120640" cy="813816"/>
          </a:xfrm>
          <a:prstGeom prst="roundRect">
            <a:avLst>
              <a:gd name="adj" fmla="val 13483"/>
            </a:avLst>
          </a:prstGeom>
          <a:solidFill>
            <a:schemeClr val="tx1"/>
          </a:solidFill>
          <a:ln/>
        </p:spPr>
      </p:sp>
      <p:sp>
        <p:nvSpPr>
          <p:cNvPr id="4" name="Text 2"/>
          <p:cNvSpPr txBox="1"/>
          <p:nvPr/>
        </p:nvSpPr>
        <p:spPr>
          <a:xfrm>
            <a:off x="777240" y="144475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cd happy-v5\server</a:t>
            </a:r>
            <a:endParaRPr lang="en-US" sz="1400" dirty="0"/>
          </a:p>
        </p:txBody>
      </p:sp>
      <p:sp>
        <p:nvSpPr>
          <p:cNvPr id="5" name="Text 3"/>
          <p:cNvSpPr txBox="1"/>
          <p:nvPr/>
        </p:nvSpPr>
        <p:spPr>
          <a:xfrm>
            <a:off x="5943600" y="140817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Se placer dans le dossier du serveur</a:t>
            </a:r>
            <a:endParaRPr lang="en-US" sz="1300" dirty="0"/>
          </a:p>
          <a:p>
            <a:pPr indent="0" marL="0">
              <a:buNone/>
            </a:pPr>
            <a:r>
              <a:rPr lang="en-US" sz="1300" dirty="0">
                <a:solidFill>
                  <a:srgbClr val="6B6170"/>
                </a:solidFill>
              </a:rPr>
              <a:t>Toutes les commandes npm suivantes s’exécutent ici.</a:t>
            </a:r>
            <a:endParaRPr lang="en-US" sz="1300" dirty="0"/>
          </a:p>
        </p:txBody>
      </p:sp>
      <p:sp>
        <p:nvSpPr>
          <p:cNvPr id="6" name="Shape 4"/>
          <p:cNvSpPr/>
          <p:nvPr/>
        </p:nvSpPr>
        <p:spPr>
          <a:xfrm>
            <a:off x="548640" y="2404872"/>
            <a:ext cx="5120640" cy="813816"/>
          </a:xfrm>
          <a:prstGeom prst="roundRect">
            <a:avLst>
              <a:gd name="adj" fmla="val 13483"/>
            </a:avLst>
          </a:prstGeom>
          <a:solidFill>
            <a:schemeClr val="tx1"/>
          </a:solidFill>
          <a:ln/>
        </p:spPr>
      </p:sp>
      <p:sp>
        <p:nvSpPr>
          <p:cNvPr id="7" name="Text 5"/>
          <p:cNvSpPr txBox="1"/>
          <p:nvPr/>
        </p:nvSpPr>
        <p:spPr>
          <a:xfrm>
            <a:off x="777240" y="240487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npm install</a:t>
            </a:r>
            <a:endParaRPr lang="en-US" sz="1400" dirty="0"/>
          </a:p>
        </p:txBody>
      </p:sp>
      <p:sp>
        <p:nvSpPr>
          <p:cNvPr id="8" name="Text 6"/>
          <p:cNvSpPr txBox="1"/>
          <p:nvPr/>
        </p:nvSpPr>
        <p:spPr>
          <a:xfrm>
            <a:off x="5943600" y="236829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Installer les bibliothèques du serveur</a:t>
            </a:r>
            <a:endParaRPr lang="en-US" sz="1300" dirty="0"/>
          </a:p>
          <a:p>
            <a:pPr indent="0" marL="0">
              <a:buNone/>
            </a:pPr>
            <a:r>
              <a:rPr lang="en-US" sz="1300" dirty="0">
                <a:solidFill>
                  <a:srgbClr val="6B6170"/>
                </a:solidFill>
              </a:rPr>
              <a:t>Télécharge Express, pg, bcrypt, JWT… listés dans package.json.</a:t>
            </a:r>
            <a:endParaRPr lang="en-US" sz="1300" dirty="0"/>
          </a:p>
        </p:txBody>
      </p:sp>
      <p:sp>
        <p:nvSpPr>
          <p:cNvPr id="9" name="Shape 7"/>
          <p:cNvSpPr/>
          <p:nvPr/>
        </p:nvSpPr>
        <p:spPr>
          <a:xfrm>
            <a:off x="548640" y="3364992"/>
            <a:ext cx="5120640" cy="813816"/>
          </a:xfrm>
          <a:prstGeom prst="roundRect">
            <a:avLst>
              <a:gd name="adj" fmla="val 13483"/>
            </a:avLst>
          </a:prstGeom>
          <a:solidFill>
            <a:schemeClr val="tx1"/>
          </a:solidFill>
          <a:ln/>
        </p:spPr>
      </p:sp>
      <p:sp>
        <p:nvSpPr>
          <p:cNvPr id="10" name="Text 8"/>
          <p:cNvSpPr txBox="1"/>
          <p:nvPr/>
        </p:nvSpPr>
        <p:spPr>
          <a:xfrm>
            <a:off x="777240" y="336499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npm run setup -- MOT_DE_PASSE</a:t>
            </a:r>
            <a:endParaRPr lang="en-US" sz="1400" dirty="0"/>
          </a:p>
        </p:txBody>
      </p:sp>
      <p:sp>
        <p:nvSpPr>
          <p:cNvPr id="11" name="Text 9"/>
          <p:cNvSpPr txBox="1"/>
          <p:nvPr/>
        </p:nvSpPr>
        <p:spPr>
          <a:xfrm>
            <a:off x="5943600" y="332841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Préparer la base en une commande</a:t>
            </a:r>
            <a:endParaRPr lang="en-US" sz="1300" dirty="0"/>
          </a:p>
          <a:p>
            <a:pPr indent="0" marL="0">
              <a:buNone/>
            </a:pPr>
            <a:r>
              <a:rPr lang="en-US" sz="1300" dirty="0">
                <a:solidFill>
                  <a:srgbClr val="6B6170"/>
                </a:solidFill>
              </a:rPr>
              <a:t>Crée le fichier .env, la base « happy », puis les tables, fonctions et règles de sécurité.</a:t>
            </a:r>
            <a:endParaRPr lang="en-US" sz="1300" dirty="0"/>
          </a:p>
        </p:txBody>
      </p:sp>
      <p:sp>
        <p:nvSpPr>
          <p:cNvPr id="12" name="Shape 10"/>
          <p:cNvSpPr/>
          <p:nvPr/>
        </p:nvSpPr>
        <p:spPr>
          <a:xfrm>
            <a:off x="548640" y="4325112"/>
            <a:ext cx="5120640" cy="813816"/>
          </a:xfrm>
          <a:prstGeom prst="roundRect">
            <a:avLst>
              <a:gd name="adj" fmla="val 13483"/>
            </a:avLst>
          </a:prstGeom>
          <a:solidFill>
            <a:schemeClr val="tx1"/>
          </a:solidFill>
          <a:ln/>
        </p:spPr>
      </p:sp>
      <p:sp>
        <p:nvSpPr>
          <p:cNvPr id="13" name="Text 11"/>
          <p:cNvSpPr txBox="1"/>
          <p:nvPr/>
        </p:nvSpPr>
        <p:spPr>
          <a:xfrm>
            <a:off x="777240" y="432511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npm run admin -- 0700000000 admin123 "Nom"</a:t>
            </a:r>
            <a:endParaRPr lang="en-US" sz="1400" dirty="0"/>
          </a:p>
        </p:txBody>
      </p:sp>
      <p:sp>
        <p:nvSpPr>
          <p:cNvPr id="14" name="Text 12"/>
          <p:cNvSpPr txBox="1"/>
          <p:nvPr/>
        </p:nvSpPr>
        <p:spPr>
          <a:xfrm>
            <a:off x="5943600" y="428853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Créer le compte administrateur</a:t>
            </a:r>
            <a:endParaRPr lang="en-US" sz="1300" dirty="0"/>
          </a:p>
          <a:p>
            <a:pPr indent="0" marL="0">
              <a:buNone/>
            </a:pPr>
            <a:r>
              <a:rPr lang="en-US" sz="1300" dirty="0">
                <a:solidFill>
                  <a:srgbClr val="6B6170"/>
                </a:solidFill>
              </a:rPr>
              <a:t>Ce téléphone et ce mot de passe serviront à se connecter en admin.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Une seule fois : préparer l’application Flutter</a:t>
            </a:r>
            <a:endParaRPr lang="en-US" sz="3600" dirty="0"/>
          </a:p>
        </p:txBody>
      </p:sp>
      <p:sp>
        <p:nvSpPr>
          <p:cNvPr id="3" name="Shape 1"/>
          <p:cNvSpPr/>
          <p:nvPr/>
        </p:nvSpPr>
        <p:spPr>
          <a:xfrm>
            <a:off x="548640" y="1444752"/>
            <a:ext cx="5120640" cy="813816"/>
          </a:xfrm>
          <a:prstGeom prst="roundRect">
            <a:avLst>
              <a:gd name="adj" fmla="val 13483"/>
            </a:avLst>
          </a:prstGeom>
          <a:solidFill>
            <a:schemeClr val="tx1"/>
          </a:solidFill>
          <a:ln/>
        </p:spPr>
      </p:sp>
      <p:sp>
        <p:nvSpPr>
          <p:cNvPr id="4" name="Text 2"/>
          <p:cNvSpPr txBox="1"/>
          <p:nvPr/>
        </p:nvSpPr>
        <p:spPr>
          <a:xfrm>
            <a:off x="777240" y="144475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cd happy-v5\mobile_flutter</a:t>
            </a:r>
            <a:endParaRPr lang="en-US" sz="1400" dirty="0"/>
          </a:p>
        </p:txBody>
      </p:sp>
      <p:sp>
        <p:nvSpPr>
          <p:cNvPr id="5" name="Text 3"/>
          <p:cNvSpPr txBox="1"/>
          <p:nvPr/>
        </p:nvSpPr>
        <p:spPr>
          <a:xfrm>
            <a:off x="5943600" y="140817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Se placer dans le dossier de l’app</a:t>
            </a:r>
            <a:endParaRPr lang="en-US" sz="1300" dirty="0"/>
          </a:p>
          <a:p>
            <a:pPr indent="0" marL="0">
              <a:buNone/>
            </a:pPr>
            <a:r>
              <a:rPr lang="en-US" sz="1300" dirty="0">
                <a:solidFill>
                  <a:srgbClr val="6B6170"/>
                </a:solidFill>
              </a:rPr>
              <a:t>Dossier qui contient pubspec.yaml et le code (lib/).</a:t>
            </a:r>
            <a:endParaRPr lang="en-US" sz="1300" dirty="0"/>
          </a:p>
        </p:txBody>
      </p:sp>
      <p:sp>
        <p:nvSpPr>
          <p:cNvPr id="6" name="Shape 4"/>
          <p:cNvSpPr/>
          <p:nvPr/>
        </p:nvSpPr>
        <p:spPr>
          <a:xfrm>
            <a:off x="548640" y="2404872"/>
            <a:ext cx="5120640" cy="813816"/>
          </a:xfrm>
          <a:prstGeom prst="roundRect">
            <a:avLst>
              <a:gd name="adj" fmla="val 13483"/>
            </a:avLst>
          </a:prstGeom>
          <a:solidFill>
            <a:schemeClr val="tx1"/>
          </a:solidFill>
          <a:ln/>
        </p:spPr>
      </p:sp>
      <p:sp>
        <p:nvSpPr>
          <p:cNvPr id="7" name="Text 5"/>
          <p:cNvSpPr txBox="1"/>
          <p:nvPr/>
        </p:nvSpPr>
        <p:spPr>
          <a:xfrm>
            <a:off x="777240" y="240487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setup_android.bat</a:t>
            </a:r>
            <a:endParaRPr lang="en-US" sz="1400" dirty="0"/>
          </a:p>
        </p:txBody>
      </p:sp>
      <p:sp>
        <p:nvSpPr>
          <p:cNvPr id="8" name="Text 6"/>
          <p:cNvSpPr txBox="1"/>
          <p:nvPr/>
        </p:nvSpPr>
        <p:spPr>
          <a:xfrm>
            <a:off x="5943600" y="236829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Préparer le projet Android (double-clic)</a:t>
            </a:r>
            <a:endParaRPr lang="en-US" sz="1300" dirty="0"/>
          </a:p>
          <a:p>
            <a:pPr indent="0" marL="0">
              <a:buNone/>
            </a:pPr>
            <a:r>
              <a:rPr lang="en-US" sz="1300" dirty="0">
                <a:solidFill>
                  <a:srgbClr val="6B6170"/>
                </a:solidFill>
              </a:rPr>
              <a:t>Lance flutter create (génère android/) et autorise l’app à joindre le serveur local en HTTP.</a:t>
            </a:r>
            <a:endParaRPr lang="en-US" sz="1300" dirty="0"/>
          </a:p>
        </p:txBody>
      </p:sp>
      <p:sp>
        <p:nvSpPr>
          <p:cNvPr id="9" name="Shape 7"/>
          <p:cNvSpPr/>
          <p:nvPr/>
        </p:nvSpPr>
        <p:spPr>
          <a:xfrm>
            <a:off x="548640" y="3364992"/>
            <a:ext cx="5120640" cy="813816"/>
          </a:xfrm>
          <a:prstGeom prst="roundRect">
            <a:avLst>
              <a:gd name="adj" fmla="val 13483"/>
            </a:avLst>
          </a:prstGeom>
          <a:solidFill>
            <a:schemeClr val="tx1"/>
          </a:solidFill>
          <a:ln/>
        </p:spPr>
      </p:sp>
      <p:sp>
        <p:nvSpPr>
          <p:cNvPr id="10" name="Text 8"/>
          <p:cNvSpPr txBox="1"/>
          <p:nvPr/>
        </p:nvSpPr>
        <p:spPr>
          <a:xfrm>
            <a:off x="777240" y="336499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pub get</a:t>
            </a:r>
            <a:endParaRPr lang="en-US" sz="1400" dirty="0"/>
          </a:p>
        </p:txBody>
      </p:sp>
      <p:sp>
        <p:nvSpPr>
          <p:cNvPr id="11" name="Text 9"/>
          <p:cNvSpPr txBox="1"/>
          <p:nvPr/>
        </p:nvSpPr>
        <p:spPr>
          <a:xfrm>
            <a:off x="5943600" y="332841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Télécharger les paquets Flutter</a:t>
            </a:r>
            <a:endParaRPr lang="en-US" sz="1300" dirty="0"/>
          </a:p>
          <a:p>
            <a:pPr indent="0" marL="0">
              <a:buNone/>
            </a:pPr>
            <a:r>
              <a:rPr lang="en-US" sz="1300" dirty="0">
                <a:solidFill>
                  <a:srgbClr val="6B6170"/>
                </a:solidFill>
              </a:rPr>
              <a:t>Installe http, image_picker, google_fonts… (déjà lancé par setup_android.bat).</a:t>
            </a:r>
            <a:endParaRPr lang="en-US" sz="1300" dirty="0"/>
          </a:p>
        </p:txBody>
      </p:sp>
      <p:sp>
        <p:nvSpPr>
          <p:cNvPr id="12" name="Shape 10"/>
          <p:cNvSpPr/>
          <p:nvPr/>
        </p:nvSpPr>
        <p:spPr>
          <a:xfrm>
            <a:off x="548640" y="4325112"/>
            <a:ext cx="5120640" cy="813816"/>
          </a:xfrm>
          <a:prstGeom prst="roundRect">
            <a:avLst>
              <a:gd name="adj" fmla="val 13483"/>
            </a:avLst>
          </a:prstGeom>
          <a:solidFill>
            <a:schemeClr val="tx1"/>
          </a:solidFill>
          <a:ln/>
        </p:spPr>
      </p:sp>
      <p:sp>
        <p:nvSpPr>
          <p:cNvPr id="13" name="Text 11"/>
          <p:cNvSpPr txBox="1"/>
          <p:nvPr/>
        </p:nvSpPr>
        <p:spPr>
          <a:xfrm>
            <a:off x="777240" y="432511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analyze</a:t>
            </a:r>
            <a:endParaRPr lang="en-US" sz="1400" dirty="0"/>
          </a:p>
        </p:txBody>
      </p:sp>
      <p:sp>
        <p:nvSpPr>
          <p:cNvPr id="14" name="Text 12"/>
          <p:cNvSpPr txBox="1"/>
          <p:nvPr/>
        </p:nvSpPr>
        <p:spPr>
          <a:xfrm>
            <a:off x="5943600" y="428853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Vérifier le code</a:t>
            </a:r>
            <a:endParaRPr lang="en-US" sz="1300" dirty="0"/>
          </a:p>
          <a:p>
            <a:pPr indent="0" marL="0">
              <a:buNone/>
            </a:pPr>
            <a:r>
              <a:rPr lang="en-US" sz="1300" dirty="0">
                <a:solidFill>
                  <a:srgbClr val="6B6170"/>
                </a:solidFill>
              </a:rPr>
              <a:t>Doit afficher « No issues found! » avant de lancer l’application.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À chaque démonstration</a:t>
            </a:r>
            <a:endParaRPr lang="en-US" sz="3600" dirty="0"/>
          </a:p>
        </p:txBody>
      </p:sp>
      <p:sp>
        <p:nvSpPr>
          <p:cNvPr id="3" name="Shape 1"/>
          <p:cNvSpPr/>
          <p:nvPr/>
        </p:nvSpPr>
        <p:spPr>
          <a:xfrm>
            <a:off x="548640" y="1444752"/>
            <a:ext cx="5120640" cy="795528"/>
          </a:xfrm>
          <a:prstGeom prst="roundRect">
            <a:avLst>
              <a:gd name="adj" fmla="val 13793"/>
            </a:avLst>
          </a:prstGeom>
          <a:solidFill>
            <a:schemeClr val="tx1"/>
          </a:solidFill>
          <a:ln/>
        </p:spPr>
      </p:sp>
      <p:sp>
        <p:nvSpPr>
          <p:cNvPr id="4" name="Text 2"/>
          <p:cNvSpPr txBox="1"/>
          <p:nvPr/>
        </p:nvSpPr>
        <p:spPr>
          <a:xfrm>
            <a:off x="777240" y="1444752"/>
            <a:ext cx="4754880" cy="79552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npm start</a:t>
            </a:r>
            <a:endParaRPr lang="en-US" sz="1400" dirty="0"/>
          </a:p>
        </p:txBody>
      </p:sp>
      <p:sp>
        <p:nvSpPr>
          <p:cNvPr id="5" name="Text 3"/>
          <p:cNvSpPr txBox="1"/>
          <p:nvPr/>
        </p:nvSpPr>
        <p:spPr>
          <a:xfrm>
            <a:off x="5943600" y="1408176"/>
            <a:ext cx="5669280" cy="868680"/>
          </a:xfrm>
          <a:prstGeom prst="rect">
            <a:avLst/>
          </a:prstGeom>
          <a:noFill/>
          <a:ln/>
        </p:spPr>
        <p:txBody>
          <a:bodyPr wrap="square" lIns="0" tIns="0" rIns="0" bIns="0" rtlCol="0" anchor="ctr"/>
          <a:lstStyle/>
          <a:p>
            <a:pPr indent="0" marL="0">
              <a:buNone/>
            </a:pPr>
            <a:r>
              <a:rPr lang="en-US" sz="1300" b="1" dirty="0">
                <a:solidFill>
                  <a:srgbClr val="1E1428"/>
                </a:solidFill>
              </a:rPr>
              <a:t>Démarrer le serveur API</a:t>
            </a:r>
            <a:endParaRPr lang="en-US" sz="1300" dirty="0"/>
          </a:p>
          <a:p>
            <a:pPr indent="0" marL="0">
              <a:buNone/>
            </a:pPr>
            <a:r>
              <a:rPr lang="en-US" sz="1300" dirty="0">
                <a:solidFill>
                  <a:srgbClr val="6B6170"/>
                </a:solidFill>
              </a:rPr>
              <a:t>Affiche « Happy API prête sur http://localhost:4000 ». Laisser ce terminal ouvert.</a:t>
            </a:r>
            <a:endParaRPr lang="en-US" sz="1300" dirty="0"/>
          </a:p>
        </p:txBody>
      </p:sp>
      <p:sp>
        <p:nvSpPr>
          <p:cNvPr id="6" name="Shape 4"/>
          <p:cNvSpPr/>
          <p:nvPr/>
        </p:nvSpPr>
        <p:spPr>
          <a:xfrm>
            <a:off x="548640" y="2386584"/>
            <a:ext cx="5120640" cy="795528"/>
          </a:xfrm>
          <a:prstGeom prst="roundRect">
            <a:avLst>
              <a:gd name="adj" fmla="val 13793"/>
            </a:avLst>
          </a:prstGeom>
          <a:solidFill>
            <a:schemeClr val="tx1"/>
          </a:solidFill>
          <a:ln/>
        </p:spPr>
      </p:sp>
      <p:sp>
        <p:nvSpPr>
          <p:cNvPr id="7" name="Text 5"/>
          <p:cNvSpPr txBox="1"/>
          <p:nvPr/>
        </p:nvSpPr>
        <p:spPr>
          <a:xfrm>
            <a:off x="777240" y="2386584"/>
            <a:ext cx="4754880" cy="79552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emulators --launch &lt;nom&gt;</a:t>
            </a:r>
            <a:endParaRPr lang="en-US" sz="1400" dirty="0"/>
          </a:p>
        </p:txBody>
      </p:sp>
      <p:sp>
        <p:nvSpPr>
          <p:cNvPr id="8" name="Text 6"/>
          <p:cNvSpPr txBox="1"/>
          <p:nvPr/>
        </p:nvSpPr>
        <p:spPr>
          <a:xfrm>
            <a:off x="5943600" y="2350008"/>
            <a:ext cx="5669280" cy="868680"/>
          </a:xfrm>
          <a:prstGeom prst="rect">
            <a:avLst/>
          </a:prstGeom>
          <a:noFill/>
          <a:ln/>
        </p:spPr>
        <p:txBody>
          <a:bodyPr wrap="square" lIns="0" tIns="0" rIns="0" bIns="0" rtlCol="0" anchor="ctr"/>
          <a:lstStyle/>
          <a:p>
            <a:pPr indent="0" marL="0">
              <a:buNone/>
            </a:pPr>
            <a:r>
              <a:rPr lang="en-US" sz="1300" b="1" dirty="0">
                <a:solidFill>
                  <a:srgbClr val="1E1428"/>
                </a:solidFill>
              </a:rPr>
              <a:t>Démarrer l’émulateur Android</a:t>
            </a:r>
            <a:endParaRPr lang="en-US" sz="1300" dirty="0"/>
          </a:p>
          <a:p>
            <a:pPr indent="0" marL="0">
              <a:buNone/>
            </a:pPr>
            <a:r>
              <a:rPr lang="en-US" sz="1300" dirty="0">
                <a:solidFill>
                  <a:srgbClr val="6B6170"/>
                </a:solidFill>
              </a:rPr>
              <a:t>Ou depuis VS Code / Android Studio (Device Manager).</a:t>
            </a:r>
            <a:endParaRPr lang="en-US" sz="1300" dirty="0"/>
          </a:p>
        </p:txBody>
      </p:sp>
      <p:sp>
        <p:nvSpPr>
          <p:cNvPr id="9" name="Shape 7"/>
          <p:cNvSpPr/>
          <p:nvPr/>
        </p:nvSpPr>
        <p:spPr>
          <a:xfrm>
            <a:off x="548640" y="3328416"/>
            <a:ext cx="5120640" cy="795528"/>
          </a:xfrm>
          <a:prstGeom prst="roundRect">
            <a:avLst>
              <a:gd name="adj" fmla="val 13793"/>
            </a:avLst>
          </a:prstGeom>
          <a:solidFill>
            <a:schemeClr val="tx1"/>
          </a:solidFill>
          <a:ln/>
        </p:spPr>
      </p:sp>
      <p:sp>
        <p:nvSpPr>
          <p:cNvPr id="10" name="Text 8"/>
          <p:cNvSpPr txBox="1"/>
          <p:nvPr/>
        </p:nvSpPr>
        <p:spPr>
          <a:xfrm>
            <a:off x="777240" y="3328416"/>
            <a:ext cx="4754880" cy="79552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run</a:t>
            </a:r>
            <a:endParaRPr lang="en-US" sz="1400" dirty="0"/>
          </a:p>
        </p:txBody>
      </p:sp>
      <p:sp>
        <p:nvSpPr>
          <p:cNvPr id="11" name="Text 9"/>
          <p:cNvSpPr txBox="1"/>
          <p:nvPr/>
        </p:nvSpPr>
        <p:spPr>
          <a:xfrm>
            <a:off x="5943600" y="3291840"/>
            <a:ext cx="5669280" cy="868680"/>
          </a:xfrm>
          <a:prstGeom prst="rect">
            <a:avLst/>
          </a:prstGeom>
          <a:noFill/>
          <a:ln/>
        </p:spPr>
        <p:txBody>
          <a:bodyPr wrap="square" lIns="0" tIns="0" rIns="0" bIns="0" rtlCol="0" anchor="ctr"/>
          <a:lstStyle/>
          <a:p>
            <a:pPr indent="0" marL="0">
              <a:buNone/>
            </a:pPr>
            <a:r>
              <a:rPr lang="en-US" sz="1300" b="1" dirty="0">
                <a:solidFill>
                  <a:srgbClr val="1E1428"/>
                </a:solidFill>
              </a:rPr>
              <a:t>Lancer l’application</a:t>
            </a:r>
            <a:endParaRPr lang="en-US" sz="1300" dirty="0"/>
          </a:p>
          <a:p>
            <a:pPr indent="0" marL="0">
              <a:buNone/>
            </a:pPr>
            <a:r>
              <a:rPr lang="en-US" sz="1300" dirty="0">
                <a:solidFill>
                  <a:srgbClr val="6B6170"/>
                </a:solidFill>
              </a:rPr>
              <a:t>Compile et installe l’app ; elle appelle le serveur via 10.0.2.2:4000. Dans VS Code : touche F5.</a:t>
            </a:r>
            <a:endParaRPr lang="en-US" sz="1300" dirty="0"/>
          </a:p>
        </p:txBody>
      </p:sp>
      <p:sp>
        <p:nvSpPr>
          <p:cNvPr id="12" name="Shape 10"/>
          <p:cNvSpPr/>
          <p:nvPr/>
        </p:nvSpPr>
        <p:spPr>
          <a:xfrm>
            <a:off x="548640" y="4270248"/>
            <a:ext cx="5120640" cy="795528"/>
          </a:xfrm>
          <a:prstGeom prst="roundRect">
            <a:avLst>
              <a:gd name="adj" fmla="val 13793"/>
            </a:avLst>
          </a:prstGeom>
          <a:solidFill>
            <a:schemeClr val="tx1"/>
          </a:solidFill>
          <a:ln/>
        </p:spPr>
      </p:sp>
      <p:sp>
        <p:nvSpPr>
          <p:cNvPr id="13" name="Text 11"/>
          <p:cNvSpPr txBox="1"/>
          <p:nvPr/>
        </p:nvSpPr>
        <p:spPr>
          <a:xfrm>
            <a:off x="777240" y="4270248"/>
            <a:ext cx="4754880" cy="79552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  /  R</a:t>
            </a:r>
            <a:endParaRPr lang="en-US" sz="1400" dirty="0"/>
          </a:p>
        </p:txBody>
      </p:sp>
      <p:sp>
        <p:nvSpPr>
          <p:cNvPr id="14" name="Text 12"/>
          <p:cNvSpPr txBox="1"/>
          <p:nvPr/>
        </p:nvSpPr>
        <p:spPr>
          <a:xfrm>
            <a:off x="5943600" y="4233672"/>
            <a:ext cx="5669280" cy="868680"/>
          </a:xfrm>
          <a:prstGeom prst="rect">
            <a:avLst/>
          </a:prstGeom>
          <a:noFill/>
          <a:ln/>
        </p:spPr>
        <p:txBody>
          <a:bodyPr wrap="square" lIns="0" tIns="0" rIns="0" bIns="0" rtlCol="0" anchor="ctr"/>
          <a:lstStyle/>
          <a:p>
            <a:pPr indent="0" marL="0">
              <a:buNone/>
            </a:pPr>
            <a:r>
              <a:rPr lang="en-US" sz="1300" b="1" dirty="0">
                <a:solidFill>
                  <a:srgbClr val="1E1428"/>
                </a:solidFill>
              </a:rPr>
              <a:t>Recharger pendant flutter run</a:t>
            </a:r>
            <a:endParaRPr lang="en-US" sz="1300" dirty="0"/>
          </a:p>
          <a:p>
            <a:pPr indent="0" marL="0">
              <a:buNone/>
            </a:pPr>
            <a:r>
              <a:rPr lang="en-US" sz="1300" dirty="0">
                <a:solidFill>
                  <a:srgbClr val="6B6170"/>
                </a:solidFill>
              </a:rPr>
              <a:t>r : rechargement à chaud (garde l’état). R : redémarrage complet de l’app.</a:t>
            </a:r>
            <a:endParaRPr lang="en-US" sz="1300" dirty="0"/>
          </a:p>
        </p:txBody>
      </p:sp>
      <p:sp>
        <p:nvSpPr>
          <p:cNvPr id="15" name="Shape 13"/>
          <p:cNvSpPr/>
          <p:nvPr/>
        </p:nvSpPr>
        <p:spPr>
          <a:xfrm>
            <a:off x="548640" y="5212080"/>
            <a:ext cx="5120640" cy="795528"/>
          </a:xfrm>
          <a:prstGeom prst="roundRect">
            <a:avLst>
              <a:gd name="adj" fmla="val 13793"/>
            </a:avLst>
          </a:prstGeom>
          <a:solidFill>
            <a:schemeClr val="tx1"/>
          </a:solidFill>
          <a:ln/>
        </p:spPr>
      </p:sp>
      <p:sp>
        <p:nvSpPr>
          <p:cNvPr id="16" name="Text 14"/>
          <p:cNvSpPr txBox="1"/>
          <p:nvPr/>
        </p:nvSpPr>
        <p:spPr>
          <a:xfrm>
            <a:off x="777240" y="5212080"/>
            <a:ext cx="4754880" cy="795528"/>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npm test</a:t>
            </a:r>
            <a:endParaRPr lang="en-US" sz="1400" dirty="0"/>
          </a:p>
        </p:txBody>
      </p:sp>
      <p:sp>
        <p:nvSpPr>
          <p:cNvPr id="17" name="Text 15"/>
          <p:cNvSpPr txBox="1"/>
          <p:nvPr/>
        </p:nvSpPr>
        <p:spPr>
          <a:xfrm>
            <a:off x="5943600" y="5175504"/>
            <a:ext cx="5669280" cy="868680"/>
          </a:xfrm>
          <a:prstGeom prst="rect">
            <a:avLst/>
          </a:prstGeom>
          <a:noFill/>
          <a:ln/>
        </p:spPr>
        <p:txBody>
          <a:bodyPr wrap="square" lIns="0" tIns="0" rIns="0" bIns="0" rtlCol="0" anchor="ctr"/>
          <a:lstStyle/>
          <a:p>
            <a:pPr indent="0" marL="0">
              <a:buNone/>
            </a:pPr>
            <a:r>
              <a:rPr lang="en-US" sz="1300" b="1" dirty="0">
                <a:solidFill>
                  <a:srgbClr val="1E1428"/>
                </a:solidFill>
              </a:rPr>
              <a:t>Prouver que tout fonctionne</a:t>
            </a:r>
            <a:endParaRPr lang="en-US" sz="1300" dirty="0"/>
          </a:p>
          <a:p>
            <a:pPr indent="0" marL="0">
              <a:buNone/>
            </a:pPr>
            <a:r>
              <a:rPr lang="en-US" sz="1300" dirty="0">
                <a:solidFill>
                  <a:srgbClr val="6B6170"/>
                </a:solidFill>
              </a:rPr>
              <a:t>21 vérifications automatiques de bout en bout (inscription, anonymat, publication…).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Sur un vrai téléphone et en cas de problème</a:t>
            </a:r>
            <a:endParaRPr lang="en-US" sz="3600" dirty="0"/>
          </a:p>
        </p:txBody>
      </p:sp>
      <p:sp>
        <p:nvSpPr>
          <p:cNvPr id="3" name="Shape 1"/>
          <p:cNvSpPr/>
          <p:nvPr/>
        </p:nvSpPr>
        <p:spPr>
          <a:xfrm>
            <a:off x="548640" y="1444752"/>
            <a:ext cx="5120640" cy="813816"/>
          </a:xfrm>
          <a:prstGeom prst="roundRect">
            <a:avLst>
              <a:gd name="adj" fmla="val 13483"/>
            </a:avLst>
          </a:prstGeom>
          <a:solidFill>
            <a:schemeClr val="tx1"/>
          </a:solidFill>
          <a:ln/>
        </p:spPr>
      </p:sp>
      <p:sp>
        <p:nvSpPr>
          <p:cNvPr id="4" name="Text 2"/>
          <p:cNvSpPr txBox="1"/>
          <p:nvPr/>
        </p:nvSpPr>
        <p:spPr>
          <a:xfrm>
            <a:off x="777240" y="144475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ipconfig</a:t>
            </a:r>
            <a:endParaRPr lang="en-US" sz="1400" dirty="0"/>
          </a:p>
        </p:txBody>
      </p:sp>
      <p:sp>
        <p:nvSpPr>
          <p:cNvPr id="5" name="Text 3"/>
          <p:cNvSpPr txBox="1"/>
          <p:nvPr/>
        </p:nvSpPr>
        <p:spPr>
          <a:xfrm>
            <a:off x="5943600" y="140817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Trouver l’adresse IP du PC</a:t>
            </a:r>
            <a:endParaRPr lang="en-US" sz="1300" dirty="0"/>
          </a:p>
          <a:p>
            <a:pPr indent="0" marL="0">
              <a:buNone/>
            </a:pPr>
            <a:r>
              <a:rPr lang="en-US" sz="1300" dirty="0">
                <a:solidFill>
                  <a:srgbClr val="6B6170"/>
                </a:solidFill>
              </a:rPr>
              <a:t>Lire « Adresse IPv4 », par exemple 192.168.1.20.</a:t>
            </a:r>
            <a:endParaRPr lang="en-US" sz="1300" dirty="0"/>
          </a:p>
        </p:txBody>
      </p:sp>
      <p:sp>
        <p:nvSpPr>
          <p:cNvPr id="6" name="Shape 4"/>
          <p:cNvSpPr/>
          <p:nvPr/>
        </p:nvSpPr>
        <p:spPr>
          <a:xfrm>
            <a:off x="548640" y="2404872"/>
            <a:ext cx="5120640" cy="813816"/>
          </a:xfrm>
          <a:prstGeom prst="roundRect">
            <a:avLst>
              <a:gd name="adj" fmla="val 13483"/>
            </a:avLst>
          </a:prstGeom>
          <a:solidFill>
            <a:schemeClr val="tx1"/>
          </a:solidFill>
          <a:ln/>
        </p:spPr>
      </p:sp>
      <p:sp>
        <p:nvSpPr>
          <p:cNvPr id="7" name="Text 5"/>
          <p:cNvSpPr txBox="1"/>
          <p:nvPr/>
        </p:nvSpPr>
        <p:spPr>
          <a:xfrm>
            <a:off x="777240" y="240487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run --dart-define=API_URL=http://192.168.1.20:4000</a:t>
            </a:r>
            <a:endParaRPr lang="en-US" sz="1400" dirty="0"/>
          </a:p>
        </p:txBody>
      </p:sp>
      <p:sp>
        <p:nvSpPr>
          <p:cNvPr id="8" name="Text 6"/>
          <p:cNvSpPr txBox="1"/>
          <p:nvPr/>
        </p:nvSpPr>
        <p:spPr>
          <a:xfrm>
            <a:off x="5943600" y="236829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Lancer sur un vrai téléphone</a:t>
            </a:r>
            <a:endParaRPr lang="en-US" sz="1300" dirty="0"/>
          </a:p>
          <a:p>
            <a:pPr indent="0" marL="0">
              <a:buNone/>
            </a:pPr>
            <a:r>
              <a:rPr lang="en-US" sz="1300" dirty="0">
                <a:solidFill>
                  <a:srgbClr val="6B6170"/>
                </a:solidFill>
              </a:rPr>
              <a:t>Indique à l’app où joindre le serveur (même Wi-Fi que le PC).</a:t>
            </a:r>
            <a:endParaRPr lang="en-US" sz="1300" dirty="0"/>
          </a:p>
        </p:txBody>
      </p:sp>
      <p:sp>
        <p:nvSpPr>
          <p:cNvPr id="9" name="Shape 7"/>
          <p:cNvSpPr/>
          <p:nvPr/>
        </p:nvSpPr>
        <p:spPr>
          <a:xfrm>
            <a:off x="548640" y="3364992"/>
            <a:ext cx="5120640" cy="813816"/>
          </a:xfrm>
          <a:prstGeom prst="roundRect">
            <a:avLst>
              <a:gd name="adj" fmla="val 13483"/>
            </a:avLst>
          </a:prstGeom>
          <a:solidFill>
            <a:schemeClr val="tx1"/>
          </a:solidFill>
          <a:ln/>
        </p:spPr>
      </p:sp>
      <p:sp>
        <p:nvSpPr>
          <p:cNvPr id="10" name="Text 8"/>
          <p:cNvSpPr txBox="1"/>
          <p:nvPr/>
        </p:nvSpPr>
        <p:spPr>
          <a:xfrm>
            <a:off x="777240" y="336499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devices</a:t>
            </a:r>
            <a:endParaRPr lang="en-US" sz="1400" dirty="0"/>
          </a:p>
        </p:txBody>
      </p:sp>
      <p:sp>
        <p:nvSpPr>
          <p:cNvPr id="11" name="Text 9"/>
          <p:cNvSpPr txBox="1"/>
          <p:nvPr/>
        </p:nvSpPr>
        <p:spPr>
          <a:xfrm>
            <a:off x="5943600" y="332841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Lister les appareils disponibles</a:t>
            </a:r>
            <a:endParaRPr lang="en-US" sz="1300" dirty="0"/>
          </a:p>
          <a:p>
            <a:pPr indent="0" marL="0">
              <a:buNone/>
            </a:pPr>
            <a:r>
              <a:rPr lang="en-US" sz="1300" dirty="0">
                <a:solidFill>
                  <a:srgbClr val="6B6170"/>
                </a:solidFill>
              </a:rPr>
              <a:t>Vérifie que l’émulateur ou le téléphone est bien détecté.</a:t>
            </a:r>
            <a:endParaRPr lang="en-US" sz="1300" dirty="0"/>
          </a:p>
        </p:txBody>
      </p:sp>
      <p:sp>
        <p:nvSpPr>
          <p:cNvPr id="12" name="Shape 10"/>
          <p:cNvSpPr/>
          <p:nvPr/>
        </p:nvSpPr>
        <p:spPr>
          <a:xfrm>
            <a:off x="548640" y="4325112"/>
            <a:ext cx="5120640" cy="813816"/>
          </a:xfrm>
          <a:prstGeom prst="roundRect">
            <a:avLst>
              <a:gd name="adj" fmla="val 13483"/>
            </a:avLst>
          </a:prstGeom>
          <a:solidFill>
            <a:schemeClr val="tx1"/>
          </a:solidFill>
          <a:ln/>
        </p:spPr>
      </p:sp>
      <p:sp>
        <p:nvSpPr>
          <p:cNvPr id="13" name="Text 11"/>
          <p:cNvSpPr txBox="1"/>
          <p:nvPr/>
        </p:nvSpPr>
        <p:spPr>
          <a:xfrm>
            <a:off x="777240" y="4325112"/>
            <a:ext cx="4754880" cy="813816"/>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flutter clean</a:t>
            </a:r>
            <a:endParaRPr lang="en-US" sz="1400" dirty="0"/>
          </a:p>
        </p:txBody>
      </p:sp>
      <p:sp>
        <p:nvSpPr>
          <p:cNvPr id="14" name="Text 12"/>
          <p:cNvSpPr txBox="1"/>
          <p:nvPr/>
        </p:nvSpPr>
        <p:spPr>
          <a:xfrm>
            <a:off x="5943600" y="4288536"/>
            <a:ext cx="5669280" cy="886968"/>
          </a:xfrm>
          <a:prstGeom prst="rect">
            <a:avLst/>
          </a:prstGeom>
          <a:noFill/>
          <a:ln/>
        </p:spPr>
        <p:txBody>
          <a:bodyPr wrap="square" lIns="0" tIns="0" rIns="0" bIns="0" rtlCol="0" anchor="ctr"/>
          <a:lstStyle/>
          <a:p>
            <a:pPr indent="0" marL="0">
              <a:buNone/>
            </a:pPr>
            <a:r>
              <a:rPr lang="en-US" sz="1300" b="1" dirty="0">
                <a:solidFill>
                  <a:srgbClr val="1E1428"/>
                </a:solidFill>
              </a:rPr>
              <a:t>Repartir d’une compilation propre</a:t>
            </a:r>
            <a:endParaRPr lang="en-US" sz="1300" dirty="0"/>
          </a:p>
          <a:p>
            <a:pPr indent="0" marL="0">
              <a:buNone/>
            </a:pPr>
            <a:r>
              <a:rPr lang="en-US" sz="1300" dirty="0">
                <a:solidFill>
                  <a:srgbClr val="6B6170"/>
                </a:solidFill>
              </a:rPr>
              <a:t>Efface les fichiers compilés si une erreur persiste, puis relancer flutter run.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Bilan et prochaines étapes</a:t>
            </a:r>
            <a:endParaRPr lang="en-US" sz="3600" dirty="0"/>
          </a:p>
        </p:txBody>
      </p:sp>
      <p:sp>
        <p:nvSpPr>
          <p:cNvPr id="3" name="realise"/>
          <p:cNvSpPr/>
          <p:nvPr/>
        </p:nvSpPr>
        <p:spPr>
          <a:xfrm>
            <a:off x="548640" y="1463040"/>
            <a:ext cx="5440680" cy="4480560"/>
          </a:xfrm>
          <a:prstGeom prst="roundRect">
            <a:avLst>
              <a:gd name="adj" fmla="val 3673"/>
            </a:avLst>
          </a:prstGeom>
          <a:solidFill>
            <a:schemeClr val="bg2"/>
          </a:solidFill>
          <a:ln/>
          <a:effectLst>
            <a:outerShdw sx="100000" sy="100000" kx="0" ky="0" algn="bl" rotWithShape="0" blurRad="101600" dist="25400" dir="5400000">
              <a:srgbClr val="1E1428">
                <a:alpha val="12000"/>
              </a:srgbClr>
            </a:outerShdw>
          </a:effectLst>
        </p:spPr>
      </p:sp>
      <p:sp>
        <p:nvSpPr>
          <p:cNvPr id="4" name="Shape 2"/>
          <p:cNvSpPr/>
          <p:nvPr/>
        </p:nvSpPr>
        <p:spPr>
          <a:xfrm>
            <a:off x="868680" y="1737360"/>
            <a:ext cx="685800" cy="68580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1040130" y="1908810"/>
            <a:ext cx="342900" cy="342900"/>
          </a:xfrm>
          <a:prstGeom prst="rect">
            <a:avLst/>
          </a:prstGeom>
        </p:spPr>
      </p:pic>
      <p:sp>
        <p:nvSpPr>
          <p:cNvPr id="6" name="Text 3"/>
          <p:cNvSpPr txBox="1"/>
          <p:nvPr/>
        </p:nvSpPr>
        <p:spPr>
          <a:xfrm>
            <a:off x="1737360" y="1783080"/>
            <a:ext cx="3657600" cy="548640"/>
          </a:xfrm>
          <a:prstGeom prst="rect">
            <a:avLst/>
          </a:prstGeom>
          <a:noFill/>
          <a:ln/>
        </p:spPr>
        <p:txBody>
          <a:bodyPr wrap="square" lIns="0" tIns="0" rIns="0" bIns="0" rtlCol="0" anchor="ctr"/>
          <a:lstStyle/>
          <a:p>
            <a:pPr indent="0" marL="0">
              <a:buNone/>
            </a:pPr>
            <a:r>
              <a:rPr lang="en-US" sz="2200" b="1" dirty="0">
                <a:solidFill>
                  <a:schemeClr val="tx1"/>
                </a:solidFill>
              </a:rPr>
              <a:t>Réalisé</a:t>
            </a:r>
            <a:endParaRPr lang="en-US" sz="2200" dirty="0"/>
          </a:p>
        </p:txBody>
      </p:sp>
      <p:sp>
        <p:nvSpPr>
          <p:cNvPr id="7" name="Text 4"/>
          <p:cNvSpPr txBox="1"/>
          <p:nvPr/>
        </p:nvSpPr>
        <p:spPr>
          <a:xfrm>
            <a:off x="868680" y="26060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Inscription par téléphone, espace célébrant complet</a:t>
            </a:r>
            <a:endParaRPr lang="en-US" sz="1500" dirty="0"/>
          </a:p>
          <a:p>
            <a:pPr marL="342900" indent="-342900">
              <a:spcAft>
                <a:spcPts val="800"/>
              </a:spcAft>
              <a:buSzPct val="100000"/>
              <a:buChar char="•"/>
            </a:pPr>
            <a:r>
              <a:rPr lang="en-US" sz="1500" dirty="0">
                <a:solidFill>
                  <a:schemeClr val="tx1"/>
                </a:solidFill>
              </a:rPr>
              <a:t>Invitation, réponses de présence, réservation anonyme</a:t>
            </a:r>
            <a:endParaRPr lang="en-US" sz="1500" dirty="0"/>
          </a:p>
          <a:p>
            <a:pPr marL="342900" indent="-342900">
              <a:spcAft>
                <a:spcPts val="800"/>
              </a:spcAft>
              <a:buSzPct val="100000"/>
              <a:buChar char="•"/>
            </a:pPr>
            <a:r>
              <a:rPr lang="en-US" sz="1500" dirty="0">
                <a:solidFill>
                  <a:schemeClr val="tx1"/>
                </a:solidFill>
              </a:rPr>
              <a:t>Accès payant (mobile money) validé par l’admin</a:t>
            </a:r>
            <a:endParaRPr lang="en-US" sz="1500" dirty="0"/>
          </a:p>
          <a:p>
            <a:pPr marL="342900" indent="-342900">
              <a:spcAft>
                <a:spcPts val="800"/>
              </a:spcAft>
              <a:buSzPct val="100000"/>
              <a:buChar char="•"/>
            </a:pPr>
            <a:r>
              <a:rPr lang="en-US" sz="1500" dirty="0">
                <a:solidFill>
                  <a:schemeClr val="tx1"/>
                </a:solidFill>
              </a:rPr>
              <a:t>Révélation le lendemain, rappels automatiques</a:t>
            </a:r>
            <a:endParaRPr lang="en-US" sz="1500" dirty="0"/>
          </a:p>
          <a:p>
            <a:pPr marL="342900" indent="-342900">
              <a:spcAft>
                <a:spcPts val="800"/>
              </a:spcAft>
              <a:buSzPct val="100000"/>
              <a:buChar char="•"/>
            </a:pPr>
            <a:r>
              <a:rPr lang="en-US" sz="1500" dirty="0">
                <a:solidFill>
                  <a:schemeClr val="tx1"/>
                </a:solidFill>
              </a:rPr>
              <a:t>Base PostgreSQL locale sécurisée, 21 tests réussis</a:t>
            </a:r>
            <a:endParaRPr lang="en-US" sz="1500" dirty="0"/>
          </a:p>
        </p:txBody>
      </p:sp>
      <p:sp>
        <p:nvSpPr>
          <p:cNvPr id="8" name="suite"/>
          <p:cNvSpPr/>
          <p:nvPr/>
        </p:nvSpPr>
        <p:spPr>
          <a:xfrm>
            <a:off x="6172200" y="1463040"/>
            <a:ext cx="5440680" cy="4480560"/>
          </a:xfrm>
          <a:prstGeom prst="roundRect">
            <a:avLst>
              <a:gd name="adj" fmla="val 3673"/>
            </a:avLst>
          </a:prstGeom>
          <a:solidFill>
            <a:schemeClr val="tx1"/>
          </a:solidFill>
          <a:ln/>
          <a:effectLst>
            <a:outerShdw sx="100000" sy="100000" kx="0" ky="0" algn="bl" rotWithShape="0" blurRad="101600" dist="25400" dir="5400000">
              <a:srgbClr val="1E1428">
                <a:alpha val="12000"/>
              </a:srgbClr>
            </a:outerShdw>
          </a:effectLst>
        </p:spPr>
      </p:sp>
      <p:sp>
        <p:nvSpPr>
          <p:cNvPr id="9" name="Shape 6"/>
          <p:cNvSpPr/>
          <p:nvPr/>
        </p:nvSpPr>
        <p:spPr>
          <a:xfrm>
            <a:off x="6492240" y="1737360"/>
            <a:ext cx="685800" cy="68580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6663690" y="1908810"/>
            <a:ext cx="342900" cy="342900"/>
          </a:xfrm>
          <a:prstGeom prst="rect">
            <a:avLst/>
          </a:prstGeom>
        </p:spPr>
      </p:pic>
      <p:sp>
        <p:nvSpPr>
          <p:cNvPr id="11" name="Text 7"/>
          <p:cNvSpPr txBox="1"/>
          <p:nvPr/>
        </p:nvSpPr>
        <p:spPr>
          <a:xfrm>
            <a:off x="7360920" y="1783080"/>
            <a:ext cx="3657600" cy="548640"/>
          </a:xfrm>
          <a:prstGeom prst="rect">
            <a:avLst/>
          </a:prstGeom>
          <a:noFill/>
          <a:ln/>
        </p:spPr>
        <p:txBody>
          <a:bodyPr wrap="square" lIns="0" tIns="0" rIns="0" bIns="0" rtlCol="0" anchor="ctr"/>
          <a:lstStyle/>
          <a:p>
            <a:pPr indent="0" marL="0">
              <a:buNone/>
            </a:pPr>
            <a:r>
              <a:rPr lang="en-US" sz="2200" b="1" dirty="0">
                <a:solidFill>
                  <a:srgbClr val="FFFFFF"/>
                </a:solidFill>
              </a:rPr>
              <a:t>Bientôt</a:t>
            </a:r>
            <a:endParaRPr lang="en-US" sz="2200" dirty="0"/>
          </a:p>
        </p:txBody>
      </p:sp>
      <p:sp>
        <p:nvSpPr>
          <p:cNvPr id="12" name="Text 8"/>
          <p:cNvSpPr txBox="1"/>
          <p:nvPr/>
        </p:nvSpPr>
        <p:spPr>
          <a:xfrm>
            <a:off x="6492240" y="26060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rPr>
              <a:t>E-commerce : boutiques, vitrines, commandes, stock, livraison</a:t>
            </a:r>
            <a:endParaRPr lang="en-US" sz="1500" dirty="0"/>
          </a:p>
          <a:p>
            <a:pPr marL="342900" indent="-342900">
              <a:spcAft>
                <a:spcPts val="800"/>
              </a:spcAft>
              <a:buSzPct val="100000"/>
              <a:buChar char="•"/>
            </a:pPr>
            <a:r>
              <a:rPr lang="en-US" sz="1500" dirty="0">
                <a:solidFill>
                  <a:srgbClr val="FFFFFF"/>
                </a:solidFill>
              </a:rPr>
              <a:t>Notifications push application fermée (Firebase)</a:t>
            </a:r>
            <a:endParaRPr lang="en-US" sz="1500" dirty="0"/>
          </a:p>
          <a:p>
            <a:pPr marL="342900" indent="-342900">
              <a:spcAft>
                <a:spcPts val="800"/>
              </a:spcAft>
              <a:buSzPct val="100000"/>
              <a:buChar char="•"/>
            </a:pPr>
            <a:r>
              <a:rPr lang="en-US" sz="1500" dirty="0">
                <a:solidFill>
                  <a:srgbClr val="FFFFFF"/>
                </a:solidFill>
              </a:rPr>
              <a:t>Ouverture directe de l’app depuis un lien</a:t>
            </a:r>
            <a:endParaRPr lang="en-US" sz="1500" dirty="0"/>
          </a:p>
          <a:p>
            <a:pPr marL="342900" indent="-342900">
              <a:spcAft>
                <a:spcPts val="800"/>
              </a:spcAft>
              <a:buSzPct val="100000"/>
              <a:buChar char="•"/>
            </a:pPr>
            <a:r>
              <a:rPr lang="en-US" sz="1500" dirty="0">
                <a:solidFill>
                  <a:srgbClr val="FFFFFF"/>
                </a:solidFill>
              </a:rPr>
              <a:t>Site web branché sur le même serveur</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82880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Merci</a:t>
            </a:r>
            <a:endParaRPr lang="en-US" sz="4800" dirty="0"/>
          </a:p>
        </p:txBody>
      </p:sp>
      <p:sp>
        <p:nvSpPr>
          <p:cNvPr id="3" name="Text 0"/>
          <p:cNvSpPr/>
          <p:nvPr>
            <p:ph idx="101" type="body" hasCustomPrompt="1"/>
          </p:nvPr>
        </p:nvSpPr>
        <p:spPr>
          <a:xfrm>
            <a:off x="731520" y="3977640"/>
            <a:ext cx="6766560" cy="1280160"/>
          </a:xfrm>
          <a:prstGeom prst="rect">
            <a:avLst/>
          </a:prstGeom>
          <a:noFill/>
          <a:ln/>
        </p:spPr>
        <p:txBody>
          <a:bodyPr wrap="square" rtlCol="0" anchor="t"/>
          <a:lstStyle/>
          <a:p>
            <a:pPr algn="l" indent="0" marL="0">
              <a:buNone/>
            </a:pPr>
            <a:r>
              <a:rPr lang="en-US" sz="2000" dirty="0">
                <a:solidFill>
                  <a:schemeClr val="bg2"/>
                </a:solidFill>
              </a:rPr>
              <a:t>Place à la démonstration et à vos questions</a:t>
            </a:r>
            <a:endParaRPr lang="en-US" sz="2000" dirty="0"/>
          </a:p>
        </p:txBody>
      </p:sp>
      <p:pic>
        <p:nvPicPr>
          <p:cNvPr id="4" name="Image 0" descr="preencoded.png">    </p:cNvPr>
          <p:cNvPicPr>
            <a:picLocks noChangeAspect="1"/>
          </p:cNvPicPr>
          <p:nvPr/>
        </p:nvPicPr>
        <p:blipFill>
          <a:blip r:embed="rId1"/>
          <a:stretch>
            <a:fillRect/>
          </a:stretch>
        </p:blipFill>
        <p:spPr>
          <a:xfrm>
            <a:off x="8961120" y="2103120"/>
            <a:ext cx="2194560" cy="2194560"/>
          </a:xfrm>
          <a:prstGeom prst="rect">
            <a:avLst/>
          </a:prstGeom>
        </p:spPr>
      </p:pic>
    </p:spTree>
  </p:cSld>
  <p:clrMapOvr>
    <a:masterClrMapping/>
  </p:clrMapOvr>
</p:sld>
</file>

<file path=ppt/theme/theme1.xml><?xml version="1.0" encoding="utf-8"?>
<a:theme xmlns:a="http://schemas.openxmlformats.org/drawingml/2006/main" name="Happy">
  <a:themeElements>
    <a:clrScheme name="Happy">
      <a:dk1>
        <a:srgbClr val="1E1428"/>
      </a:dk1>
      <a:lt1>
        <a:srgbClr val="FFFFFF"/>
      </a:lt1>
      <a:dk2>
        <a:srgbClr val="3A2150"/>
      </a:dk2>
      <a:lt2>
        <a:srgbClr val="F6E7EA"/>
      </a:lt2>
      <a:accent1>
        <a:srgbClr val="E0456B"/>
      </a:accent1>
      <a:accent2>
        <a:srgbClr val="C8A26A"/>
      </a:accent2>
      <a:accent3>
        <a:srgbClr val="4E9C80"/>
      </a:accent3>
      <a:accent4>
        <a:srgbClr val="3A2150"/>
      </a:accent4>
      <a:accent5>
        <a:srgbClr val="A98BE0"/>
      </a:accent5>
      <a:accent6>
        <a:srgbClr val="6B6170"/>
      </a:accent6>
      <a:hlink>
        <a:srgbClr val="E0456B"/>
      </a:hlink>
      <a:folHlink>
        <a:srgbClr val="3A2150"/>
      </a:folHlink>
    </a:clrScheme>
    <a:fontScheme name="Happ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Happy : présentation du projet</dc:title>
  <dc:subject>PptxGenJS Presentation</dc:subject>
  <dc:creator>Noémie Cyrielle ALLAH</dc:creator>
  <cp:lastModifiedBy>Noémie Cyrielle ALLAH</cp:lastModifiedBy>
  <cp:revision>1</cp:revision>
  <dcterms:created xsi:type="dcterms:W3CDTF">2026-10-09T20:17:25Z</dcterms:created>
  <dcterms:modified xsi:type="dcterms:W3CDTF">2026-10-09T20:17:25Z</dcterms:modified>
</cp:coreProperties>
</file>